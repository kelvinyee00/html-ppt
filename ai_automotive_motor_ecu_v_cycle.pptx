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783334"/>
            <a:ext cx="2650159" cy="153080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1929638"/>
            <a:ext cx="2357551" cy="123819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2820" b="1" i="0" u="none">
                <a:solidFill>
                  <a:srgbClr val="38BDF8"/>
                </a:solidFill>
                <a:latin typeface="Calibri"/>
              </a:rPr>
              <a:t>65%</a:t>
            </a:r>
          </a:p>
          <a:p>
            <a:pPr algn="l">
              <a:spcAft>
                <a:spcPts val="190"/>
              </a:spcAft>
              <a:buNone/>
            </a:pPr>
            <a:r>
              <a:rPr sz="1130" b="1" i="0" u="none">
                <a:solidFill>
                  <a:srgbClr val="F9FAFB"/>
                </a:solidFill>
                <a:latin typeface="Calibri"/>
              </a:rPr>
              <a:t>Test Authoring Automation</a:t>
            </a:r>
          </a:p>
          <a:p>
            <a:pPr algn="l">
              <a:buNone/>
            </a:pPr>
            <a:r>
              <a:rPr sz="940" b="1" i="0" u="none">
                <a:solidFill>
                  <a:srgbClr val="0D9488"/>
                </a:solidFill>
                <a:latin typeface="Calibri"/>
              </a:rPr>
              <a:t>▲ 3.5x SIL/HIL Coverage · Automates CAPL, Python, and fault-injection scripts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63391" y="1783334"/>
            <a:ext cx="2650159" cy="153080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09695" y="1929638"/>
            <a:ext cx="2357551" cy="123819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2820" b="1" i="0" u="none">
                <a:solidFill>
                  <a:srgbClr val="38BDF8"/>
                </a:solidFill>
                <a:latin typeface="Calibri"/>
              </a:rPr>
              <a:t>50%</a:t>
            </a:r>
          </a:p>
          <a:p>
            <a:pPr algn="l">
              <a:spcAft>
                <a:spcPts val="190"/>
              </a:spcAft>
              <a:buNone/>
            </a:pPr>
            <a:r>
              <a:rPr sz="1130" b="1" i="0" u="none">
                <a:solidFill>
                  <a:srgbClr val="F9FAFB"/>
                </a:solidFill>
                <a:latin typeface="Calibri"/>
              </a:rPr>
              <a:t>Dyno Calibration Reduction</a:t>
            </a:r>
          </a:p>
          <a:p>
            <a:pPr algn="l">
              <a:buNone/>
            </a:pPr>
            <a:r>
              <a:rPr sz="940" b="1" i="0" u="none">
                <a:solidFill>
                  <a:srgbClr val="0D9488"/>
                </a:solidFill>
                <a:latin typeface="Calibri"/>
              </a:rPr>
              <a:t>▲ €450k+ Saved / Program · Active-learning Bayesian MTPA/MTPV curve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8142" y="1783334"/>
            <a:ext cx="2650159" cy="153080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4446" y="1929638"/>
            <a:ext cx="2357551" cy="123819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2820" b="1" i="0" u="none">
                <a:solidFill>
                  <a:srgbClr val="38BDF8"/>
                </a:solidFill>
                <a:latin typeface="Calibri"/>
              </a:rPr>
              <a:t>100%</a:t>
            </a:r>
          </a:p>
          <a:p>
            <a:pPr algn="l">
              <a:spcAft>
                <a:spcPts val="190"/>
              </a:spcAft>
              <a:buNone/>
            </a:pPr>
            <a:r>
              <a:rPr sz="1130" b="1" i="0" u="none">
                <a:solidFill>
                  <a:srgbClr val="F9FAFB"/>
                </a:solidFill>
                <a:latin typeface="Calibri"/>
              </a:rPr>
              <a:t>Zero Data Exposure</a:t>
            </a:r>
          </a:p>
          <a:p>
            <a:pPr algn="l">
              <a:buNone/>
            </a:pPr>
            <a:r>
              <a:rPr sz="940" b="1" i="0" u="none">
                <a:solidFill>
                  <a:srgbClr val="0D9488"/>
                </a:solidFill>
                <a:latin typeface="Calibri"/>
              </a:rPr>
              <a:t>🔒 100% On-Prem / Air-Gapped · No cloud egress; proprietary plant models stay sovereign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2893" y="1783334"/>
            <a:ext cx="2650159" cy="153080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39197" y="1929638"/>
            <a:ext cx="2357551" cy="123819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2820" b="1" i="0" u="none">
                <a:solidFill>
                  <a:srgbClr val="38BDF8"/>
                </a:solidFill>
                <a:latin typeface="Calibri"/>
              </a:rPr>
              <a:t>8 wks</a:t>
            </a:r>
          </a:p>
          <a:p>
            <a:pPr algn="l">
              <a:spcAft>
                <a:spcPts val="190"/>
              </a:spcAft>
              <a:buNone/>
            </a:pPr>
            <a:r>
              <a:rPr sz="1130" b="1" i="0" u="none">
                <a:solidFill>
                  <a:srgbClr val="F9FAFB"/>
                </a:solidFill>
                <a:latin typeface="Calibri"/>
              </a:rPr>
              <a:t>Cycle-Time Compression</a:t>
            </a:r>
          </a:p>
          <a:p>
            <a:pPr algn="l">
              <a:buNone/>
            </a:pPr>
            <a:r>
              <a:rPr sz="940" b="1" i="0" u="none">
                <a:solidFill>
                  <a:srgbClr val="0D9488"/>
                </a:solidFill>
                <a:latin typeface="Calibri"/>
              </a:rPr>
              <a:t>▼ From 18 to 10 Months · Automated SWE.1-SWE.6 bidirectional traceability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60444"/>
            <a:ext cx="5464911" cy="294035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625036"/>
            <a:ext cx="5135727" cy="2611171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⚡ The E-Mobility Motor ECU Bottleneck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Next-generation 800V SiC inverters, multi-phase PMSM, and dual-motor torque vectoring demand immense control complexity (FOC, SVPWM, thermal derating, resolver decoding). Engineering teams spend </a:t>
            </a:r>
            <a:r>
              <a:rPr sz="1150" b="1" i="0" u="none">
                <a:solidFill>
                  <a:srgbClr val="F9FAFB"/>
                </a:solidFill>
                <a:latin typeface="Calibri"/>
              </a:rPr>
              <a:t>up to 60% of their billable engineering hours on repetitive manual overhead</a:t>
            </a:r>
            <a:r>
              <a:rPr sz="1150" b="0" i="0" u="none">
                <a:solidFill>
                  <a:srgbClr val="F9FAFB"/>
                </a:solidFill>
                <a:latin typeface="Calibri"/>
              </a:rPr>
              <a:t>: writing traceability matrices, fixing MISRA violations, writing boilerplate test scripts, and running brute-force dyno sweeps.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3460444"/>
            <a:ext cx="5464911" cy="294035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2735" y="3625036"/>
            <a:ext cx="5135727" cy="2611171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🛡️ The Solution: Automotive-Grade Engineering AI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Our specialized automotive AI engine embeds directly into your existing enterprise toolchains (DOORS, Simulink, TargetLink, Vector CANoe, dSPACE, ETAS INCA). It acts as an autonomous co-pilot for motor control engineers, handling redundant tasks deterministically while your proprietary IP remains </a:t>
            </a:r>
            <a:r>
              <a:rPr sz="1150" b="1" i="0" u="none">
                <a:solidFill>
                  <a:srgbClr val="F9FAFB"/>
                </a:solidFill>
                <a:latin typeface="Calibri"/>
              </a:rPr>
              <a:t>100% protected within your air-gapped firewall</a:t>
            </a:r>
            <a:r>
              <a:rPr sz="1150" b="0" i="0" u="none">
                <a:solidFill>
                  <a:srgbClr val="F9FAFB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"/>
            <a:ext cx="11094415" cy="124841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38BDF8"/>
                </a:solidFill>
                <a:latin typeface="Calibri"/>
              </a:rPr>
              <a:t>• EXECUTIVE VISION · AUTOMOTIVE E-DRIVE SOFTWARE</a:t>
            </a:r>
          </a:p>
          <a:p>
            <a:pPr algn="l">
              <a:buNone/>
            </a:pPr>
            <a:r>
              <a:rPr sz="2400" b="1" i="0" u="none">
                <a:solidFill>
                  <a:srgbClr val="F9FAFB"/>
                </a:solidFill>
                <a:latin typeface="Calibri"/>
              </a:rPr>
              <a:t>Accelerating Motor ECU Engineering with Secure, Sovereign AI</a:t>
            </a:r>
          </a:p>
          <a:p>
            <a:pPr algn="l">
              <a:spcBef>
                <a:spcPts val="300"/>
              </a:spcBef>
              <a:buNone/>
            </a:pPr>
            <a:r>
              <a:rPr sz="1250" b="0" i="0" u="none">
                <a:solidFill>
                  <a:srgbClr val="9CA3AF"/>
                </a:solidFill>
                <a:latin typeface="Calibri"/>
              </a:rPr>
              <a:t>Eliminating redundant manual engineering across the ASPICE V-Cycle for PMSM &amp; Inverter control software—cutting time-to-market by 50% without compromising ASIL-D safety or exposing proprietary motor IP.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7259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37376"/>
            <a:ext cx="9539935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Proprietary &amp; Confidential · E-Mobility Powertrain AI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71455" y="6437376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783334"/>
            <a:ext cx="3588410" cy="229452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1947926"/>
            <a:ext cx="3259226" cy="1965341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80"/>
              </a:spcAft>
              <a:buNone/>
            </a:pPr>
            <a:r>
              <a:rPr sz="1350" b="1" i="0" u="none">
                <a:solidFill>
                  <a:srgbClr val="F9FAFB"/>
                </a:solidFill>
                <a:latin typeface="Calibri"/>
              </a:rPr>
              <a:t>📐 1. Physics-Informed ML Surrogates</a:t>
            </a:r>
          </a:p>
          <a:p>
            <a:pPr algn="l">
              <a:spcAft>
                <a:spcPts val="280"/>
              </a:spcAft>
              <a:buNone/>
            </a:pPr>
            <a:r>
              <a:rPr sz="1080" b="0" i="0" u="none">
                <a:solidFill>
                  <a:srgbClr val="F9FAFB"/>
                </a:solidFill>
                <a:latin typeface="Calibri"/>
              </a:rPr>
              <a:t>Replaces sluggish finite-element (FEA) and complex ODE solvers with microsecond neural surrogates for non-linear motor plant dynamics: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Iron saturation, cross-coupling Ld/Lq mapping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Inverter SiC switching losses &amp; thermal transients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100x faster SIL/MIL closed-loop simulation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01642" y="1783334"/>
            <a:ext cx="3588410" cy="229452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66234" y="1947926"/>
            <a:ext cx="3259226" cy="1965341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80"/>
              </a:spcAft>
              <a:buNone/>
            </a:pPr>
            <a:r>
              <a:rPr sz="1350" b="1" i="0" u="none">
                <a:solidFill>
                  <a:srgbClr val="F9FAFB"/>
                </a:solidFill>
                <a:latin typeface="Calibri"/>
              </a:rPr>
              <a:t>🧠 2. Domain-Tuned Semantic Agents</a:t>
            </a:r>
          </a:p>
          <a:p>
            <a:pPr algn="l">
              <a:spcAft>
                <a:spcPts val="280"/>
              </a:spcAft>
              <a:buNone/>
            </a:pPr>
            <a:r>
              <a:rPr sz="1080" b="0" i="0" u="none">
                <a:solidFill>
                  <a:srgbClr val="F9FAFB"/>
                </a:solidFill>
                <a:latin typeface="Calibri"/>
              </a:rPr>
              <a:t>Trained on automotive embedded standards, control protocols, and toolchain syntax rather than public internet chatter: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Deep knowledge of AUTOSAR Classic (RTE/BSW/MCAL)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Native understanding of A2L/ASAP2, CAN/XCP, and MDF4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Automated ASPICE SWE.1-SWE.6 artifact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54644" y="1783334"/>
            <a:ext cx="3588410" cy="229452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A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19236" y="1947926"/>
            <a:ext cx="3259226" cy="1965341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80"/>
              </a:spcAft>
              <a:buNone/>
            </a:pPr>
            <a:r>
              <a:rPr sz="1350" b="1" i="0" u="none">
                <a:solidFill>
                  <a:srgbClr val="F9FAFB"/>
                </a:solidFill>
                <a:latin typeface="Calibri"/>
              </a:rPr>
              <a:t>🛡️ 3. Deterministic Verification Gates</a:t>
            </a:r>
          </a:p>
          <a:p>
            <a:pPr algn="l">
              <a:spcAft>
                <a:spcPts val="280"/>
              </a:spcAft>
              <a:buNone/>
            </a:pPr>
            <a:r>
              <a:rPr sz="1080" b="0" i="0" u="none">
                <a:solidFill>
                  <a:srgbClr val="F9FAFB"/>
                </a:solidFill>
                <a:latin typeface="Calibri"/>
              </a:rPr>
              <a:t>Zero hallucination tolerance: Every AI suggestion is strictly gated by deterministic compilers and formal verification tools: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Automated MISRA-C:2012 / CERT C rule checkers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SMT-based formal bounds checking (Polyspace/Astree)</a:t>
            </a:r>
          </a:p>
          <a:p>
            <a:pPr algn="l" marL="228600" indent="-228600">
              <a:spcAft>
                <a:spcPts val="190"/>
              </a:spcAft>
              <a:buClr>
                <a:srgbClr val="38BDF8"/>
              </a:buClr>
              <a:buChar char="•"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Human-in-the-loop sign-off for ASIL-D safety cases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224163"/>
          <a:ext cx="11094414" cy="21766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888"/>
                <a:gridCol w="3225777"/>
                <a:gridCol w="3975749"/>
              </a:tblGrid>
              <a:tr h="435327">
                <a:tc>
                  <a:txBody>
                    <a:bodyPr wrap="square" lIns="120000" rIns="120000" tIns="90000" bIns="90000"/>
                    <a:lstStyle/>
                    <a:p>
                      <a:pPr algn="l"/>
                      <a:r>
                        <a:rPr sz="1150" b="1" i="0" u="none">
                          <a:solidFill>
                            <a:srgbClr val="F9FAFB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120000" marR="120000" marT="90000" marB="9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19050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20000" rIns="120000" tIns="90000" bIns="90000"/>
                    <a:lstStyle/>
                    <a:p>
                      <a:pPr algn="l"/>
                      <a:r>
                        <a:rPr sz="950" b="1" i="0" u="none">
                          <a:solidFill>
                            <a:srgbClr val="F9FAFB"/>
                          </a:solidFill>
                          <a:latin typeface="Calibri"/>
                        </a:rPr>
                        <a:t>Generic Consumer AI (ChatGPT / Public Cloud)</a:t>
                      </a:r>
                    </a:p>
                  </a:txBody>
                  <a:tcPr marL="120000" marR="120000" marT="90000" marB="9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19050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20000" rIns="120000" tIns="90000" bIns="90000"/>
                    <a:lstStyle/>
                    <a:p>
                      <a:pPr algn="l"/>
                      <a:r>
                        <a:rPr sz="1150" b="1" i="0" u="none">
                          <a:solidFill>
                            <a:srgbClr val="38BDF8"/>
                          </a:solidFill>
                          <a:latin typeface="Calibri"/>
                        </a:rPr>
                        <a:t>Our Automotive Motor ECU AI Platform</a:t>
                      </a:r>
                    </a:p>
                  </a:txBody>
                  <a:tcPr marL="120000" marR="120000" marT="90000" marB="9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19050" cmpd="s">
                      <a:solidFill>
                        <a:srgbClr val="3A4150"/>
                      </a:solidFill>
                    </a:lnB>
                  </a:tcPr>
                </a:tc>
              </a:tr>
              <a:tr h="435327"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1050" b="1" i="0" u="none">
                          <a:solidFill>
                            <a:srgbClr val="F9FAFB"/>
                          </a:solidFill>
                          <a:latin typeface="Calibri"/>
                        </a:rPr>
                        <a:t>Data Confidentiality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90" b="1" i="0" u="none">
                          <a:solidFill>
                            <a:srgbClr val="EF4444"/>
                          </a:solidFill>
                          <a:latin typeface="Calibri"/>
                        </a:rPr>
                        <a:t>High Risk</a:t>
                      </a:r>
                      <a:r>
                        <a:rPr sz="990" b="0" i="0" u="none">
                          <a:solidFill>
                            <a:srgbClr val="F9FAFB"/>
                          </a:solidFill>
                          <a:latin typeface="Calibri"/>
                        </a:rPr>
                        <a:t> Egresses to public cloud; risks model retraining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90" b="1" i="0" u="none">
                          <a:solidFill>
                            <a:srgbClr val="0D9488"/>
                          </a:solidFill>
                          <a:latin typeface="Calibri"/>
                        </a:rPr>
                        <a:t>100% Sovereign</a:t>
                      </a:r>
                      <a:r>
                        <a:rPr sz="990" b="0" i="0" u="none">
                          <a:solidFill>
                            <a:srgbClr val="F9FAFB"/>
                          </a:solidFill>
                          <a:latin typeface="Calibri"/>
                        </a:rPr>
                        <a:t> Air-gapped / On-Premise; zero external transmission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</a:tr>
              <a:tr h="435327"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1050" b="1" i="0" u="none">
                          <a:solidFill>
                            <a:srgbClr val="F9FAFB"/>
                          </a:solidFill>
                          <a:latin typeface="Calibri"/>
                        </a:rPr>
                        <a:t>Automotive Semantics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Generic code; no awareness of FOC, SVPWM, or ARXML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Native understanding of dq-frame transformations, MTPA, and AUTOSAR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</a:tr>
              <a:tr h="435327"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1050" b="1" i="0" u="none">
                          <a:solidFill>
                            <a:srgbClr val="F9FAFB"/>
                          </a:solidFill>
                          <a:latin typeface="Calibri"/>
                        </a:rPr>
                        <a:t>Safety &amp; Compliance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Unverifiable probabilistic text; unsuited for ASIL-D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Deterministic verification gates; ISO 26262 tool qualification support</a:t>
                      </a:r>
                    </a:p>
                  </a:txBody>
                  <a:tcPr marL="100000" marR="100000" marT="70000" marB="70000" anchor="ctr">
                    <a:solidFill>
                      <a:srgbClr val="222A3B"/>
                    </a:solidFill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</a:tr>
              <a:tr h="435327"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1050" b="1" i="0" u="none">
                          <a:solidFill>
                            <a:srgbClr val="F9FAFB"/>
                          </a:solidFill>
                          <a:latin typeface="Calibri"/>
                        </a:rPr>
                        <a:t>Toolchain Integration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Copy-paste web browser interface; manual friction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  <a:tc>
                  <a:txBody>
                    <a:bodyPr wrap="square" lIns="100000" rIns="100000" tIns="70000" bIns="70000"/>
                    <a:lstStyle/>
                    <a:p>
                      <a:pPr algn="l"/>
                      <a:r>
                        <a:rPr sz="950" b="0" i="0" u="none">
                          <a:solidFill>
                            <a:srgbClr val="F9FAFB"/>
                          </a:solidFill>
                          <a:latin typeface="Calibri"/>
                        </a:rPr>
                        <a:t>Headless API connectors for DOORS, Simulink, CANoe, INCA, dSPACE</a:t>
                      </a:r>
                    </a:p>
                  </a:txBody>
                  <a:tcPr marL="100000" marR="100000" marT="70000" marB="70000" anchor="ctr">
                    <a:lnL>
                      <a:noFill/>
                    </a:lnL>
                    <a:lnR>
                      <a:noFill/>
                    </a:lnR>
                    <a:lnB w="9525" cmpd="s">
                      <a:solidFill>
                        <a:srgbClr val="3A415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11480"/>
            <a:ext cx="11094415" cy="124841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38BDF8"/>
                </a:solidFill>
                <a:latin typeface="Calibri"/>
              </a:rPr>
              <a:t>• ENGINEERING FOUNDATIONS · BEYOND GENERIC LLMS</a:t>
            </a:r>
          </a:p>
          <a:p>
            <a:pPr algn="l">
              <a:buNone/>
            </a:pPr>
            <a:r>
              <a:rPr sz="2400" b="1" i="0" u="none">
                <a:solidFill>
                  <a:srgbClr val="F9FAFB"/>
                </a:solidFill>
                <a:latin typeface="Calibri"/>
              </a:rPr>
              <a:t>What is AI in Deep Automotive Motor ECU Development?</a:t>
            </a:r>
          </a:p>
          <a:p>
            <a:pPr algn="l">
              <a:spcBef>
                <a:spcPts val="300"/>
              </a:spcBef>
              <a:buNone/>
            </a:pPr>
            <a:r>
              <a:rPr sz="1250" b="0" i="0" u="none">
                <a:solidFill>
                  <a:srgbClr val="9CA3AF"/>
                </a:solidFill>
                <a:latin typeface="Calibri"/>
              </a:rPr>
              <a:t>Generic commercial AI hallucinates and leaks data. Automotive-grade engineering AI is a deterministic, neuro-symbolic framework engineered specifically for functional safety (ISO 26262) and real-time control physics.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7259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37376"/>
            <a:ext cx="9539935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Deterministic Neuro-Symbolic Architecture for High-Integrity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437376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783334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783334"/>
            <a:ext cx="50800" cy="9863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5744" y="1874774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1180" b="1" i="0" u="none">
                <a:solidFill>
                  <a:srgbClr val="F9FAFB"/>
                </a:solidFill>
                <a:latin typeface="Calibri"/>
              </a:rPr>
              <a:t>SWE.1: Requirements Engineering</a:t>
            </a:r>
            <a:r>
              <a:rPr sz="940" b="1" i="0" u="none">
                <a:solidFill>
                  <a:srgbClr val="38BDF8"/>
                </a:solidFill>
                <a:latin typeface="Calibri"/>
              </a:rPr>
              <a:t>   [DOORS / Polarion]</a:t>
            </a:r>
          </a:p>
          <a:p>
            <a:pPr algn="l">
              <a:spcAft>
                <a:spcPts val="190"/>
              </a:spcAft>
              <a:buNone/>
            </a:pPr>
            <a:r>
              <a:rPr sz="1030" b="1" i="0" u="none">
                <a:solidFill>
                  <a:srgbClr val="F9FAFB"/>
                </a:solidFill>
                <a:latin typeface="Calibri"/>
              </a:rPr>
              <a:t>AI Parser:</a:t>
            </a:r>
            <a:r>
              <a:rPr sz="1030" b="0" i="0" u="none">
                <a:solidFill>
                  <a:srgbClr val="F9FAFB"/>
                </a:solidFill>
                <a:latin typeface="Calibri"/>
              </a:rPr>
              <a:t> Converts OEM vehicle torque requests into formal Motor Control specs; flags conflicting or untestable boundary conditions automatically.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851946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851946"/>
            <a:ext cx="50800" cy="9863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744" y="2943386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1180" b="1" i="0" u="none">
                <a:solidFill>
                  <a:srgbClr val="F9FAFB"/>
                </a:solidFill>
                <a:latin typeface="Calibri"/>
              </a:rPr>
              <a:t>SWE.2: System Architecture</a:t>
            </a:r>
            <a:r>
              <a:rPr sz="940" b="1" i="0" u="none">
                <a:solidFill>
                  <a:srgbClr val="38BDF8"/>
                </a:solidFill>
                <a:latin typeface="Calibri"/>
              </a:rPr>
              <a:t>   [AUTOSAR ARXML]</a:t>
            </a:r>
          </a:p>
          <a:p>
            <a:pPr algn="l">
              <a:spcAft>
                <a:spcPts val="190"/>
              </a:spcAft>
              <a:buNone/>
            </a:pPr>
            <a:r>
              <a:rPr sz="1030" b="1" i="0" u="none">
                <a:solidFill>
                  <a:srgbClr val="F9FAFB"/>
                </a:solidFill>
                <a:latin typeface="Calibri"/>
              </a:rPr>
              <a:t>ARXML Co-Pilot:</a:t>
            </a:r>
            <a:r>
              <a:rPr sz="1030" b="0" i="0" u="none">
                <a:solidFill>
                  <a:srgbClr val="F9FAFB"/>
                </a:solidFill>
                <a:latin typeface="Calibri"/>
              </a:rPr>
              <a:t> Automated SWC port mapping, runnable scheduling, and data dictionary validation for inverter RTE and BSW complex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20558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920558"/>
            <a:ext cx="50800" cy="98631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744" y="4011998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80"/>
              </a:spcAft>
              <a:buNone/>
            </a:pPr>
            <a:r>
              <a:rPr sz="1120" b="1" i="0" u="none">
                <a:solidFill>
                  <a:srgbClr val="F9FAFB"/>
                </a:solidFill>
                <a:latin typeface="Calibri"/>
              </a:rPr>
              <a:t>SWE.3: Detailed MBD &amp; Code Gen</a:t>
            </a:r>
            <a:r>
              <a:rPr sz="900" b="1" i="0" u="none">
                <a:solidFill>
                  <a:srgbClr val="38BDF8"/>
                </a:solidFill>
                <a:latin typeface="Calibri"/>
              </a:rPr>
              <a:t>   [Simulink / TargetLink]</a:t>
            </a:r>
          </a:p>
          <a:p>
            <a:pPr algn="l">
              <a:spcAft>
                <a:spcPts val="180"/>
              </a:spcAft>
              <a:buNone/>
            </a:pPr>
            <a:r>
              <a:rPr sz="990" b="1" i="0" u="none">
                <a:solidFill>
                  <a:srgbClr val="F9FAFB"/>
                </a:solidFill>
                <a:latin typeface="Calibri"/>
              </a:rPr>
              <a:t>Model &amp; Code Assistant:</a:t>
            </a:r>
            <a:r>
              <a:rPr sz="990" b="0" i="0" u="none">
                <a:solidFill>
                  <a:srgbClr val="F9FAFB"/>
                </a:solidFill>
                <a:latin typeface="Calibri"/>
              </a:rPr>
              <a:t> Automated FOC sub-system harness generation, fixed-point scaling optimization, and automated MISRA-C:2012 remediation.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3684" y="2750745"/>
            <a:ext cx="1944327" cy="1188720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3684" y="2750745"/>
            <a:ext cx="50800" cy="1188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2502" y="2842185"/>
            <a:ext cx="1677491" cy="10058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50" b="1" i="0" u="none">
                <a:solidFill>
                  <a:srgbClr val="F9FAFB"/>
                </a:solidFill>
                <a:latin typeface="Calibri"/>
              </a:rPr>
              <a:t>⚡ ➔ ⚙️ CLOSED LOOP</a:t>
            </a:r>
          </a:p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F9FAFB"/>
                </a:solidFill>
                <a:latin typeface="Calibri"/>
              </a:rPr>
              <a:t>Continuous Automated Traceability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4315" y="1783334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14315" y="1783334"/>
            <a:ext cx="50800" cy="98631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1419" y="1874774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1180" b="1" i="0" u="none">
                <a:solidFill>
                  <a:srgbClr val="F9FAFB"/>
                </a:solidFill>
                <a:latin typeface="Calibri"/>
              </a:rPr>
              <a:t>SWE.4: Unit &amp; Static Verification</a:t>
            </a:r>
            <a:r>
              <a:rPr sz="940" b="1" i="0" u="none">
                <a:solidFill>
                  <a:srgbClr val="0D9488"/>
                </a:solidFill>
                <a:latin typeface="Calibri"/>
              </a:rPr>
              <a:t>   [Polyspace / TPT]</a:t>
            </a:r>
          </a:p>
          <a:p>
            <a:pPr algn="l">
              <a:spcAft>
                <a:spcPts val="190"/>
              </a:spcAft>
              <a:buNone/>
            </a:pPr>
            <a:r>
              <a:rPr sz="1030" b="1" i="0" u="none">
                <a:solidFill>
                  <a:srgbClr val="F9FAFB"/>
                </a:solidFill>
                <a:latin typeface="Calibri"/>
              </a:rPr>
              <a:t>Test Vector Synthesizer:</a:t>
            </a:r>
            <a:r>
              <a:rPr sz="1030" b="0" i="0" u="none">
                <a:solidFill>
                  <a:srgbClr val="F9FAFB"/>
                </a:solidFill>
                <a:latin typeface="Calibri"/>
              </a:rPr>
              <a:t> Autonomously generates boundary and equivalence test cases achieving 100% MC/DC coverage for ASIL-D motor safety monitors.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14315" y="2851946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14315" y="2851946"/>
            <a:ext cx="50800" cy="98631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1419" y="2943386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70"/>
              </a:spcAft>
              <a:buNone/>
            </a:pPr>
            <a:r>
              <a:rPr sz="1080" b="1" i="0" u="none">
                <a:solidFill>
                  <a:srgbClr val="F9FAFB"/>
                </a:solidFill>
                <a:latin typeface="Calibri"/>
              </a:rPr>
              <a:t>SWE.5: SIL / HIL Integration</a:t>
            </a:r>
            <a:r>
              <a:rPr sz="860" b="1" i="0" u="none">
                <a:solidFill>
                  <a:srgbClr val="0D9488"/>
                </a:solidFill>
                <a:latin typeface="Calibri"/>
              </a:rPr>
              <a:t>   [dSPACE / Vector CANoe]</a:t>
            </a:r>
          </a:p>
          <a:p>
            <a:pPr algn="l">
              <a:spcAft>
                <a:spcPts val="170"/>
              </a:spcAft>
              <a:buNone/>
            </a:pPr>
            <a:r>
              <a:rPr sz="950" b="1" i="0" u="none">
                <a:solidFill>
                  <a:srgbClr val="F9FAFB"/>
                </a:solidFill>
                <a:latin typeface="Calibri"/>
              </a:rPr>
              <a:t>HIL Automation Engine:</a:t>
            </a:r>
            <a:r>
              <a:rPr sz="950" b="0" i="0" u="none">
                <a:solidFill>
                  <a:srgbClr val="F9FAFB"/>
                </a:solidFill>
                <a:latin typeface="Calibri"/>
              </a:rPr>
              <a:t> Generates automated CAPL/Python scripts for resolver signal loss, DC bus over-voltage, and inverter bridge shoot-through faults.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315" y="3920558"/>
            <a:ext cx="4428740" cy="986316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4315" y="3920558"/>
            <a:ext cx="50800" cy="98631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1419" y="4011998"/>
            <a:ext cx="4085332" cy="803436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170"/>
              </a:spcAft>
              <a:buNone/>
            </a:pPr>
            <a:r>
              <a:rPr sz="1080" b="1" i="0" u="none">
                <a:solidFill>
                  <a:srgbClr val="F9FAFB"/>
                </a:solidFill>
                <a:latin typeface="Calibri"/>
              </a:rPr>
              <a:t>SWE.6: Dyno Calibration &amp; Mapping</a:t>
            </a:r>
            <a:r>
              <a:rPr sz="860" b="1" i="0" u="none">
                <a:solidFill>
                  <a:srgbClr val="0D9488"/>
                </a:solidFill>
                <a:latin typeface="Calibri"/>
              </a:rPr>
              <a:t>   [ETAS INCA / CANape]</a:t>
            </a:r>
          </a:p>
          <a:p>
            <a:pPr algn="l">
              <a:spcAft>
                <a:spcPts val="170"/>
              </a:spcAft>
              <a:buNone/>
            </a:pPr>
            <a:r>
              <a:rPr sz="950" b="1" i="0" u="none">
                <a:solidFill>
                  <a:srgbClr val="F9FAFB"/>
                </a:solidFill>
                <a:latin typeface="Calibri"/>
              </a:rPr>
              <a:t>Bayesian Calibration Co-Pilot:</a:t>
            </a:r>
            <a:r>
              <a:rPr sz="950" b="0" i="0" u="none">
                <a:solidFill>
                  <a:srgbClr val="F9FAFB"/>
                </a:solidFill>
                <a:latin typeface="Calibri"/>
              </a:rPr>
              <a:t> Active-learning MTPA/MTPV table generator; slashes dyno cell operating hours by 50% via intelligent sweep reduction.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53180"/>
            <a:ext cx="5464911" cy="1347619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3180"/>
            <a:ext cx="5464911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401" y="5238741"/>
            <a:ext cx="5195389" cy="102729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EF4444"/>
                </a:solidFill>
                <a:latin typeface="Calibri"/>
              </a:rPr>
              <a:t>Traditional Manual Bottleneck: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Manual test script authoring, repetitive regression debug in gigabyte CAN trace logs, and weeks of tedious test bench sweep tuning.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8143" y="5053180"/>
            <a:ext cx="5464911" cy="1347619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8143" y="5053180"/>
            <a:ext cx="5464911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2904" y="5238741"/>
            <a:ext cx="5195389" cy="1027297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0D9488"/>
                </a:solidFill>
                <a:latin typeface="Calibri"/>
              </a:rPr>
              <a:t>AI-Accelerated Engineering: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Automated test synthesis, 10-second MDF4 log root-cause analysis, and optimal dyno sampling points calculated autonomously.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1480"/>
            <a:ext cx="11094415" cy="124841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38BDF8"/>
                </a:solidFill>
                <a:latin typeface="Calibri"/>
              </a:rPr>
              <a:t>• END-TO-END V-MODEL TRANSFORMATION · ASPICE SWE.1 TO SWE.6</a:t>
            </a:r>
          </a:p>
          <a:p>
            <a:pPr algn="l">
              <a:buNone/>
            </a:pPr>
            <a:r>
              <a:rPr sz="2400" b="1" i="0" u="none">
                <a:solidFill>
                  <a:srgbClr val="F9FAFB"/>
                </a:solidFill>
                <a:latin typeface="Calibri"/>
              </a:rPr>
              <a:t>AI Across the Motor ECU V-Development Cycle</a:t>
            </a:r>
          </a:p>
          <a:p>
            <a:pPr algn="l">
              <a:spcBef>
                <a:spcPts val="300"/>
              </a:spcBef>
              <a:buNone/>
            </a:pPr>
            <a:r>
              <a:rPr sz="1250" b="0" i="0" u="none">
                <a:solidFill>
                  <a:srgbClr val="9CA3AF"/>
                </a:solidFill>
                <a:latin typeface="Calibri"/>
              </a:rPr>
              <a:t>Automating time-sink manual tasks from requirements decomposition down to dyno calibration while preserving full engineering control and safety integrity.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167259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437376"/>
            <a:ext cx="9539935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ASPICE Level 3 &amp; ISO 26262 ASIL-D Process Aligned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71455" y="6437376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783334"/>
            <a:ext cx="5464911" cy="1680692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783334"/>
            <a:ext cx="5464911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998726"/>
            <a:ext cx="5135727" cy="13007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 i="0" u="none">
                <a:solidFill>
                  <a:srgbClr val="0D9488"/>
                </a:solidFill>
                <a:latin typeface="Calibri"/>
              </a:rPr>
              <a:t>• 🔒 PILLAR 1 · SOVEREIGN HOSTING</a:t>
            </a:r>
          </a:p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100% Air-Gapped / On-Premise VPC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Deployed completely behind your corporate firewall on customer-owned infrastructure (NVIDIA DGX, private server racks, or dedicated sovereign cloud enclaves). </a:t>
            </a:r>
            <a:r>
              <a:rPr sz="1150" b="1" i="0" u="none">
                <a:solidFill>
                  <a:srgbClr val="F9FAFB"/>
                </a:solidFill>
                <a:latin typeface="Calibri"/>
              </a:rPr>
              <a:t>Zero telemetry, zero external API calls, and zero external network dependencies.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8143" y="1783334"/>
            <a:ext cx="5464911" cy="1680692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8143" y="1783334"/>
            <a:ext cx="5464911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2735" y="1998726"/>
            <a:ext cx="5135727" cy="13007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 i="0" u="none">
                <a:solidFill>
                  <a:srgbClr val="0D9488"/>
                </a:solidFill>
                <a:latin typeface="Calibri"/>
              </a:rPr>
              <a:t>• 🛡️ PILLAR 2 · INTELLECTUAL PROPERTY RIGHTS</a:t>
            </a:r>
          </a:p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Zero Data Retention &amp; No Retraining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Your proprietary motor control models, Simulink diagrams, C source code, and calibration A2L files are never used to train base foundation models. Ephemeral session memory is securely wiped following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28618"/>
            <a:ext cx="5464911" cy="1680692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28618"/>
            <a:ext cx="5464911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844010"/>
            <a:ext cx="5135727" cy="13007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 i="0" u="none">
                <a:solidFill>
                  <a:srgbClr val="0D9488"/>
                </a:solidFill>
                <a:latin typeface="Calibri"/>
              </a:rPr>
              <a:t>• ⚡ PILLAR 3 · COMPLIANCE STANDARD</a:t>
            </a:r>
          </a:p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TISAX Level 3 &amp; ISO/SAE 21434 Certified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Built to conform strictly with automotive cybersecurity standards (ISO/SAE 21434) and European automotive supplier information security (TISAX AL3 - Very High Protection Need). Role-based access control (RBAC) and hardware cryptographic signing.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3628618"/>
            <a:ext cx="5464911" cy="1680692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8143" y="3628618"/>
            <a:ext cx="5464911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2735" y="3844010"/>
            <a:ext cx="5135727" cy="130070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 i="0" u="none">
                <a:solidFill>
                  <a:srgbClr val="0D9488"/>
                </a:solidFill>
                <a:latin typeface="Calibri"/>
              </a:rPr>
              <a:t>• 🔍 PILLAR 4 · AUDIT &amp; TRACEABILITY</a:t>
            </a:r>
          </a:p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Complete Audit Trail &amp; Human Sign-off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Every generated test case, code patch, or calibration adjustment includes full cryptographic provenance and timestamped justification. Meets strict ASPICE audit requirements with mandatory Senior Engineer sign-off gates.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55614"/>
            <a:ext cx="11094415" cy="945185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455614"/>
            <a:ext cx="50800" cy="94518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744" y="5547054"/>
            <a:ext cx="10751007" cy="76230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50" b="1" i="0" u="none">
                <a:solidFill>
                  <a:srgbClr val="F9FAFB"/>
                </a:solidFill>
                <a:latin typeface="Calibri"/>
              </a:rPr>
              <a:t>🏛️ Enterprise Air-Gap Deployment Mode</a:t>
            </a:r>
            <a:r>
              <a:rPr sz="1000" b="1" i="0" u="none">
                <a:solidFill>
                  <a:srgbClr val="0D9488"/>
                </a:solidFill>
                <a:latin typeface="Calibri"/>
              </a:rPr>
              <a:t>   [✓ ZERO DATA LEAKAGE CERTIFIED]</a:t>
            </a:r>
          </a:p>
          <a:p>
            <a:pPr algn="l">
              <a:spcAft>
                <a:spcPts val="200"/>
              </a:spcAft>
              <a:buNone/>
            </a:pPr>
            <a:r>
              <a:rPr sz="1100" b="0" i="0" u="none">
                <a:solidFill>
                  <a:srgbClr val="F9FAFB"/>
                </a:solidFill>
                <a:latin typeface="Calibri"/>
              </a:rPr>
              <a:t>Containerized microservices (Docker/Kubernetes) running locally with on-prem quantized model weights.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"/>
            <a:ext cx="11094415" cy="124841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38BDF8"/>
                </a:solidFill>
                <a:latin typeface="Calibri"/>
              </a:rPr>
              <a:t>• ENTERPRISE SECURITY ARCHITECTURE · ZERO TRUST</a:t>
            </a:r>
          </a:p>
          <a:p>
            <a:pPr algn="l">
              <a:buNone/>
            </a:pPr>
            <a:r>
              <a:rPr sz="2400" b="1" i="0" u="none">
                <a:solidFill>
                  <a:srgbClr val="F9FAFB"/>
                </a:solidFill>
                <a:latin typeface="Calibri"/>
              </a:rPr>
              <a:t>Absolute IP Protection &amp; Zero Data Leakage Guarantee</a:t>
            </a:r>
          </a:p>
          <a:p>
            <a:pPr algn="l">
              <a:spcBef>
                <a:spcPts val="300"/>
              </a:spcBef>
              <a:buNone/>
            </a:pPr>
            <a:r>
              <a:rPr sz="1250" b="0" i="0" u="none">
                <a:solidFill>
                  <a:srgbClr val="9CA3AF"/>
                </a:solidFill>
                <a:latin typeface="Calibri"/>
              </a:rPr>
              <a:t>Your motor topologies, inverter switching algorithms, and calibration datasets represent core IP. Our platform guarantees mathematical data isolation with zero cloud exposure.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67259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9539935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Hardware-Enforced Data Isolation for Tier-1 &amp; OEM Intellectual Property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1455" y="6437376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783334"/>
            <a:ext cx="2650159" cy="2119013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783334"/>
            <a:ext cx="2650159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998726"/>
            <a:ext cx="2320975" cy="1739029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90"/>
              </a:spcAft>
              <a:buNone/>
            </a:pPr>
            <a:r>
              <a:rPr sz="940" b="1" i="0" u="none">
                <a:solidFill>
                  <a:srgbClr val="38BDF8"/>
                </a:solidFill>
                <a:latin typeface="Calibri"/>
              </a:rPr>
              <a:t>• SERVICE 01</a:t>
            </a:r>
          </a:p>
          <a:p>
            <a:pPr algn="l">
              <a:spcAft>
                <a:spcPts val="280"/>
              </a:spcAft>
              <a:buNone/>
            </a:pPr>
            <a:r>
              <a:rPr sz="1350" b="1" i="0" u="none">
                <a:solidFill>
                  <a:srgbClr val="F9FAFB"/>
                </a:solidFill>
                <a:latin typeface="Calibri"/>
              </a:rPr>
              <a:t>V-Cycle Test &amp; HIL Automation Suite</a:t>
            </a:r>
          </a:p>
          <a:p>
            <a:pPr algn="l">
              <a:spcAft>
                <a:spcPts val="280"/>
              </a:spcAft>
              <a:buNone/>
            </a:pPr>
            <a:r>
              <a:rPr sz="1080" b="0" i="0" u="none">
                <a:solidFill>
                  <a:srgbClr val="F9FAFB"/>
                </a:solidFill>
                <a:latin typeface="Calibri"/>
              </a:rPr>
              <a:t>Turnkey integration with dSPACE, Vector CANoe, and TPT. Automated test authoring and 24/7 automated regression failure diagnosis.</a:t>
            </a:r>
          </a:p>
          <a:p>
            <a:pPr algn="l">
              <a:spcBef>
                <a:spcPts val="280"/>
              </a:spcBef>
              <a:buNone/>
            </a:pPr>
            <a:r>
              <a:rPr sz="990" b="1" i="0" u="none">
                <a:solidFill>
                  <a:srgbClr val="0D9488"/>
                </a:solidFill>
                <a:latin typeface="Calibri"/>
              </a:rPr>
              <a:t>▸ 60% Faster HIL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3391" y="1783334"/>
            <a:ext cx="2650159" cy="2119013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63391" y="1783334"/>
            <a:ext cx="2650159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27983" y="1998726"/>
            <a:ext cx="2320975" cy="1739029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000" b="1" i="0" u="none">
                <a:solidFill>
                  <a:srgbClr val="38BDF8"/>
                </a:solidFill>
                <a:latin typeface="Calibri"/>
              </a:rPr>
              <a:t>• SERVICE 02</a:t>
            </a:r>
          </a:p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Dyno Calibration Co-Pilot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Deployment of Bayesian active-learning agents to optimize test bench schedules and auto-generate MTPA, MTPV, and thermal derating tables.</a:t>
            </a:r>
          </a:p>
          <a:p>
            <a:pPr algn="l">
              <a:spcBef>
                <a:spcPts val="300"/>
              </a:spcBef>
              <a:buNone/>
            </a:pPr>
            <a:r>
              <a:rPr sz="1050" b="1" i="0" u="none">
                <a:solidFill>
                  <a:srgbClr val="0D9488"/>
                </a:solidFill>
                <a:latin typeface="Calibri"/>
              </a:rPr>
              <a:t>▸ 50% Dyno Hour Reduction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2" y="1783334"/>
            <a:ext cx="2650159" cy="2119013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8142" y="1783334"/>
            <a:ext cx="2650159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2734" y="1998726"/>
            <a:ext cx="2320975" cy="1739029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"/>
              </a:spcAft>
              <a:buNone/>
            </a:pPr>
            <a:r>
              <a:rPr sz="900" b="1" i="0" u="none">
                <a:solidFill>
                  <a:srgbClr val="38BDF8"/>
                </a:solidFill>
                <a:latin typeface="Calibri"/>
              </a:rPr>
              <a:t>• SERVICE 03</a:t>
            </a:r>
          </a:p>
          <a:p>
            <a:pPr algn="l">
              <a:spcAft>
                <a:spcPts val="270"/>
              </a:spcAft>
              <a:buNone/>
            </a:pPr>
            <a:r>
              <a:rPr sz="1300" b="1" i="0" u="none">
                <a:solidFill>
                  <a:srgbClr val="F9FAFB"/>
                </a:solidFill>
                <a:latin typeface="Calibri"/>
              </a:rPr>
              <a:t>ASPICE &amp; Safety Compliance Accelerator</a:t>
            </a:r>
          </a:p>
          <a:p>
            <a:pPr algn="l">
              <a:spcAft>
                <a:spcPts val="270"/>
              </a:spcAft>
              <a:buNone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End-to-end bidirectional traceability automation from DOORS requirements to test logs, plus automated MISRA-C static remediation.</a:t>
            </a:r>
          </a:p>
          <a:p>
            <a:pPr algn="l">
              <a:spcBef>
                <a:spcPts val="270"/>
              </a:spcBef>
              <a:buNone/>
            </a:pPr>
            <a:r>
              <a:rPr sz="950" b="1" i="0" u="none">
                <a:solidFill>
                  <a:srgbClr val="0D9488"/>
                </a:solidFill>
                <a:latin typeface="Calibri"/>
              </a:rPr>
              <a:t>▸ 100% Audit-Ready SWE.1-6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2893" y="1783334"/>
            <a:ext cx="2650159" cy="2119013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92893" y="1783334"/>
            <a:ext cx="2650159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57485" y="1998726"/>
            <a:ext cx="2320975" cy="1739029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80"/>
              </a:spcAft>
              <a:buNone/>
            </a:pPr>
            <a:r>
              <a:rPr sz="900" b="1" i="0" u="none">
                <a:solidFill>
                  <a:srgbClr val="38BDF8"/>
                </a:solidFill>
                <a:latin typeface="Calibri"/>
              </a:rPr>
              <a:t>• SERVICE 04</a:t>
            </a:r>
          </a:p>
          <a:p>
            <a:pPr algn="l">
              <a:spcAft>
                <a:spcPts val="270"/>
              </a:spcAft>
              <a:buNone/>
            </a:pPr>
            <a:r>
              <a:rPr sz="1300" b="1" i="0" u="none">
                <a:solidFill>
                  <a:srgbClr val="F9FAFB"/>
                </a:solidFill>
                <a:latin typeface="Calibri"/>
              </a:rPr>
              <a:t>Air-Gapped Sovereign Deployment</a:t>
            </a:r>
          </a:p>
          <a:p>
            <a:pPr algn="l">
              <a:spcAft>
                <a:spcPts val="270"/>
              </a:spcAft>
              <a:buNone/>
            </a:pPr>
            <a:r>
              <a:rPr sz="1030" b="0" i="0" u="none">
                <a:solidFill>
                  <a:srgbClr val="F9FAFB"/>
                </a:solidFill>
                <a:latin typeface="Calibri"/>
              </a:rPr>
              <a:t>On-premise hardware setup, fine-tuning domain models on your internal motor firmware conventions, and hands-on team enablement.</a:t>
            </a:r>
          </a:p>
          <a:p>
            <a:pPr algn="l">
              <a:spcBef>
                <a:spcPts val="270"/>
              </a:spcBef>
              <a:buNone/>
            </a:pPr>
            <a:r>
              <a:rPr sz="950" b="1" i="0" u="none">
                <a:solidFill>
                  <a:srgbClr val="0D9488"/>
                </a:solidFill>
                <a:latin typeface="Calibri"/>
              </a:rPr>
              <a:t>▸ Zero Security Compromise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12075"/>
            <a:ext cx="5464911" cy="1313377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12075"/>
            <a:ext cx="5464911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977" y="4194212"/>
            <a:ext cx="5202237" cy="99990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Phase 1: 4-Week Rapid Proof of Concept (PoC)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Select one high-friction subsystem (e.g., FOC fault-injection test synthesis or dyno MTPA calibration). We demonstrate 50%+ time savings on your data with zero air-gap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012075"/>
            <a:ext cx="5464911" cy="1313377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012075"/>
            <a:ext cx="5464911" cy="50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480" y="4194212"/>
            <a:ext cx="5202237" cy="999903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  <a:buNone/>
            </a:pPr>
            <a:r>
              <a:rPr sz="1439" b="1" i="0" u="none">
                <a:solidFill>
                  <a:srgbClr val="F9FAFB"/>
                </a:solidFill>
                <a:latin typeface="Calibri"/>
              </a:rPr>
              <a:t>Phase 2: 12-Week Production Pilot &amp; Toolchain Rollout</a:t>
            </a:r>
          </a:p>
          <a:p>
            <a:pPr algn="l">
              <a:spcAft>
                <a:spcPts val="300"/>
              </a:spcAft>
              <a:buNone/>
            </a:pPr>
            <a:r>
              <a:rPr sz="1150" b="0" i="0" u="none">
                <a:solidFill>
                  <a:srgbClr val="F9FAFB"/>
                </a:solidFill>
                <a:latin typeface="Calibri"/>
              </a:rPr>
              <a:t>Full on-prem deployment integrated into your CI/CD, dSPACE/Vector HIL benches, and DOORS database. Comprehensive training for your motor control engineers.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35180"/>
            <a:ext cx="11094415" cy="965619"/>
          </a:xfrm>
          <a:prstGeom prst="roundRect">
            <a:avLst>
              <a:gd name="adj" fmla="val 4000"/>
            </a:avLst>
          </a:prstGeom>
          <a:solidFill>
            <a:srgbClr val="222A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435180"/>
            <a:ext cx="50800" cy="96561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744" y="5526620"/>
            <a:ext cx="10751007" cy="782739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250" b="1" i="0" u="none">
                <a:solidFill>
                  <a:srgbClr val="F9FAFB"/>
                </a:solidFill>
                <a:latin typeface="Calibri"/>
              </a:rPr>
              <a:t>Ready to Cut 6+ Months from Your Next Motor ECU Program?</a:t>
            </a:r>
            <a:r>
              <a:rPr sz="1000" b="1" i="0" u="none">
                <a:solidFill>
                  <a:srgbClr val="38BDF8"/>
                </a:solidFill>
                <a:latin typeface="Calibri"/>
              </a:rPr>
              <a:t>   [Schedule Technical Briefing]</a:t>
            </a:r>
          </a:p>
          <a:p>
            <a:pPr algn="l">
              <a:spcAft>
                <a:spcPts val="200"/>
              </a:spcAft>
              <a:buNone/>
            </a:pPr>
            <a:r>
              <a:rPr sz="1100" b="0" i="0" u="none">
                <a:solidFill>
                  <a:srgbClr val="F9FAFB"/>
                </a:solidFill>
                <a:latin typeface="Calibri"/>
              </a:rPr>
              <a:t>Book a 45-minute confidential technical deep dive and see our on-premise motor control AI demo.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11480"/>
            <a:ext cx="11094415" cy="124841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200"/>
              </a:spcAft>
              <a:buNone/>
            </a:pPr>
            <a:r>
              <a:rPr sz="1100" b="1" i="0" u="none">
                <a:solidFill>
                  <a:srgbClr val="38BDF8"/>
                </a:solidFill>
                <a:latin typeface="Calibri"/>
              </a:rPr>
              <a:t>• STRATEGIC ENGAGEMENT &amp; PARTNERSHIP · NEXT STEPS</a:t>
            </a:r>
          </a:p>
          <a:p>
            <a:pPr algn="l">
              <a:buNone/>
            </a:pPr>
            <a:r>
              <a:rPr sz="2400" b="1" i="0" u="none">
                <a:solidFill>
                  <a:srgbClr val="F9FAFB"/>
                </a:solidFill>
                <a:latin typeface="Calibri"/>
              </a:rPr>
              <a:t>Turnkey Services: Accelerate Your Motor ECU Programs</a:t>
            </a:r>
          </a:p>
          <a:p>
            <a:pPr algn="l">
              <a:spcBef>
                <a:spcPts val="300"/>
              </a:spcBef>
              <a:buNone/>
            </a:pPr>
            <a:r>
              <a:rPr sz="1250" b="0" i="0" u="none">
                <a:solidFill>
                  <a:srgbClr val="9CA3AF"/>
                </a:solidFill>
                <a:latin typeface="Calibri"/>
              </a:rPr>
              <a:t>We deliver end-to-end enablement: from integrating secure AI engines into your toolchain to fine-tuning on your proprietary legacy codebase and executing rapid 4-week proof-of-concepts.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167259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37376"/>
            <a:ext cx="9539935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Automotive Systems Engineering · Ready for Immediate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71455" y="6437376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buNone/>
            </a:pPr>
            <a:r>
              <a:rPr sz="950" b="0" i="0" u="none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