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3862" y="471488"/>
            <a:ext cx="76198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258" y="428625"/>
            <a:ext cx="10991575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1" i="0" u="none">
                <a:solidFill>
                  <a:srgbClr val="38BDF8"/>
                </a:solidFill>
                <a:latin typeface="Calibri"/>
              </a:rPr>
              <a:t>EXECUTIVE VISION · AUTOMOTIVE E-DRIVE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62" y="647700"/>
            <a:ext cx="11143971" cy="101530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900" b="1" i="0" u="none">
                <a:solidFill>
                  <a:srgbClr val="F9FAFB"/>
                </a:solidFill>
                <a:latin typeface="Calibri"/>
              </a:rPr>
              <a:t>Accelerating Motor ECU Engineering</a:t>
            </a:r>
          </a:p>
          <a:p>
            <a:pPr algn="l">
              <a:spcBef>
                <a:spcPts val="150"/>
              </a:spcBef>
              <a:buNone/>
            </a:pPr>
            <a:r>
              <a:rPr sz="2900" b="1" i="0" u="none">
                <a:solidFill>
                  <a:srgbClr val="F9FAFB"/>
                </a:solidFill>
                <a:latin typeface="Calibri"/>
              </a:rPr>
              <a:t>with Secure,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62" y="1643955"/>
            <a:ext cx="10477238" cy="5128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Eliminating redundant manual engineering across the ASPICE V-Cycle for PMSM &amp; Inverter control software—cutting time-to-market by 50% without compromising ASIL-D safety or exposing proprietary motor 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62" y="2475905"/>
            <a:ext cx="2657409" cy="1424434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3862" y="2475905"/>
            <a:ext cx="2657409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32" y="2656880"/>
            <a:ext cx="2295468" cy="4381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620" b="1" i="0" u="none">
                <a:solidFill>
                  <a:srgbClr val="38BDF8"/>
                </a:solidFill>
                <a:latin typeface="Calibri"/>
              </a:rPr>
              <a:t>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32" y="3075980"/>
            <a:ext cx="2295468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30" b="1" i="0" u="none">
                <a:solidFill>
                  <a:srgbClr val="F9FAFB"/>
                </a:solidFill>
                <a:latin typeface="Calibri"/>
              </a:rPr>
              <a:t>Test Authoring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32" y="3276005"/>
            <a:ext cx="2295468" cy="1668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1" i="0" u="none">
                <a:solidFill>
                  <a:srgbClr val="0D9488"/>
                </a:solidFill>
                <a:latin typeface="Calibri"/>
              </a:rPr>
              <a:t>▲ 3.5x SIL/HIL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32" y="3423791"/>
            <a:ext cx="2295468" cy="35272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D2D5DB"/>
                </a:solidFill>
                <a:latin typeface="Calibri"/>
              </a:rPr>
              <a:t>Automates CAPL, Python, and fault-injection scripts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716" y="2475905"/>
            <a:ext cx="2657409" cy="1424434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2716" y="2475905"/>
            <a:ext cx="2657409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3687" y="2656880"/>
            <a:ext cx="2295468" cy="4381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620" b="1" i="0" u="none">
                <a:solidFill>
                  <a:srgbClr val="38BDF8"/>
                </a:solidFill>
                <a:latin typeface="Calibri"/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3687" y="3075980"/>
            <a:ext cx="2295468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30" b="1" i="0" u="none">
                <a:solidFill>
                  <a:srgbClr val="F9FAFB"/>
                </a:solidFill>
                <a:latin typeface="Calibri"/>
              </a:rPr>
              <a:t>Dyno Calibration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3687" y="3276005"/>
            <a:ext cx="2295468" cy="1668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1" i="0" u="none">
                <a:solidFill>
                  <a:srgbClr val="0D9488"/>
                </a:solidFill>
                <a:latin typeface="Calibri"/>
              </a:rPr>
              <a:t>▲ €450k+ Saved /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3687" y="3423791"/>
            <a:ext cx="2295468" cy="35272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D2D5DB"/>
                </a:solidFill>
                <a:latin typeface="Calibri"/>
              </a:rPr>
              <a:t>Active-learning Bayesian MTPA/MTPV curve synthesis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570" y="2475905"/>
            <a:ext cx="2657409" cy="1424434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570" y="2475905"/>
            <a:ext cx="2657409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2541" y="2656880"/>
            <a:ext cx="2295468" cy="4381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620" b="1" i="0" u="none">
                <a:solidFill>
                  <a:srgbClr val="38BDF8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541" y="3075980"/>
            <a:ext cx="2295468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30" b="1" i="0" u="none">
                <a:solidFill>
                  <a:srgbClr val="F9FAFB"/>
                </a:solidFill>
                <a:latin typeface="Calibri"/>
              </a:rPr>
              <a:t>Zero Data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541" y="3276005"/>
            <a:ext cx="2295468" cy="1668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1" i="0" u="none">
                <a:solidFill>
                  <a:srgbClr val="0D9488"/>
                </a:solidFill>
                <a:latin typeface="Calibri"/>
              </a:rPr>
              <a:t>🔒 100% On-Prem / Air-Gapped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541" y="3423791"/>
            <a:ext cx="2295468" cy="35272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D2D5DB"/>
                </a:solidFill>
                <a:latin typeface="Calibri"/>
              </a:rPr>
              <a:t>No cloud egress; proprietary plant models stay sovereign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0425" y="2475905"/>
            <a:ext cx="2657409" cy="1424434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10425" y="2475905"/>
            <a:ext cx="2657409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1395" y="2656880"/>
            <a:ext cx="2295468" cy="4381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620" b="1" i="0" u="none">
                <a:solidFill>
                  <a:srgbClr val="38BDF8"/>
                </a:solidFill>
                <a:latin typeface="Calibri"/>
              </a:rPr>
              <a:t>8 wks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1395" y="3075980"/>
            <a:ext cx="2295468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30" b="1" i="0" u="none">
                <a:solidFill>
                  <a:srgbClr val="F9FAFB"/>
                </a:solidFill>
                <a:latin typeface="Calibri"/>
              </a:rPr>
              <a:t>Cycle-Time Compression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1395" y="3276005"/>
            <a:ext cx="2295468" cy="1668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1" i="0" u="none">
                <a:solidFill>
                  <a:srgbClr val="0D9488"/>
                </a:solidFill>
                <a:latin typeface="Calibri"/>
              </a:rPr>
              <a:t>▼ From 18 to 10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1395" y="3423791"/>
            <a:ext cx="2295468" cy="35272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D2D5DB"/>
                </a:solidFill>
                <a:latin typeface="Calibri"/>
              </a:rPr>
              <a:t>Automated SWE.1-SWE.6 bidirectional traceability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862" y="4238625"/>
            <a:ext cx="5457688" cy="1709738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2931" y="4419600"/>
            <a:ext cx="323842" cy="323850"/>
          </a:xfrm>
          <a:prstGeom prst="roundRect">
            <a:avLst>
              <a:gd name="adj" fmla="val 2500"/>
            </a:avLst>
          </a:prstGeom>
          <a:solidFill>
            <a:srgbClr val="274A6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ctr"/>
            <a:r>
              <a:rPr sz="1100" b="0" i="0" u="none">
                <a:solidFill>
                  <a:srgbClr val="38BDF8"/>
                </a:solidFill>
                <a:latin typeface="Calibri"/>
              </a:rP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2021" y="4476750"/>
            <a:ext cx="2769324" cy="2667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The E-Mobility Motor ECU Bottleneck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31" y="4838700"/>
            <a:ext cx="5019549" cy="98583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D2D5DB"/>
                </a:solidFill>
                <a:latin typeface="Calibri"/>
              </a:rPr>
              <a:t>Next-generation 800V SiC inverters, multi-phase PMSM, and dual-motor torque vectoring demand immense control complexity (FOC, SVPWM, thermal derating, resolver decoding). Engineering teams spend </a:t>
            </a:r>
            <a:r>
              <a:rPr sz="900" b="1" i="0" u="none">
                <a:solidFill>
                  <a:srgbClr val="F9FAFB"/>
                </a:solidFill>
                <a:latin typeface="Calibri"/>
              </a:rPr>
              <a:t>up to 60% of their billable engineering hours on repetitive manual overhead</a:t>
            </a:r>
            <a:r>
              <a:rPr sz="900" b="0" i="0" u="none">
                <a:solidFill>
                  <a:srgbClr val="D2D5DB"/>
                </a:solidFill>
                <a:latin typeface="Calibri"/>
              </a:rPr>
              <a:t>: writing traceability matrices, fixing MISRA violations, writing boilerplate test scripts, and running brute-force dyno sweeps.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0145" y="4238625"/>
            <a:ext cx="5457688" cy="1709738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29214" y="4419600"/>
            <a:ext cx="323842" cy="323850"/>
          </a:xfrm>
          <a:prstGeom prst="roundRect">
            <a:avLst>
              <a:gd name="adj" fmla="val 2500"/>
            </a:avLst>
          </a:prstGeom>
          <a:solidFill>
            <a:srgbClr val="274A6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ctr"/>
            <a:r>
              <a:rPr sz="1100" b="0" i="0" u="none">
                <a:solidFill>
                  <a:srgbClr val="38BDF8"/>
                </a:solidFill>
                <a:latin typeface="Calibri"/>
              </a:rPr>
              <a:t>🛡️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8304" y="4476750"/>
            <a:ext cx="3536514" cy="2667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The Solution: Automotive-Grade Engineering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9214" y="4838700"/>
            <a:ext cx="5019549" cy="98583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D2D5DB"/>
                </a:solidFill>
                <a:latin typeface="Calibri"/>
              </a:rPr>
              <a:t>Our specialized automotive AI engine embeds directly into your existing enterprise toolchains (DOORS, Simulink, TargetLink, Vector CANoe, dSPACE, ETAS INCA). It acts as an autonomous co-pilot for motor control engineers, handling redundant tasks deterministically while your proprietary IP remains </a:t>
            </a:r>
            <a:r>
              <a:rPr sz="900" b="1" i="0" u="none">
                <a:solidFill>
                  <a:srgbClr val="F9FAFB"/>
                </a:solidFill>
                <a:latin typeface="Calibri"/>
              </a:rPr>
              <a:t>100% protected within your air-gapped firewall</a:t>
            </a:r>
            <a:r>
              <a:rPr sz="900" b="0" i="0" u="none">
                <a:solidFill>
                  <a:srgbClr val="D2D5DB"/>
                </a:solidFill>
                <a:latin typeface="Calibri"/>
              </a:rPr>
              <a:t>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862" y="6153150"/>
            <a:ext cx="1114397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862" y="6267450"/>
            <a:ext cx="7577900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9CA3AF"/>
                </a:solidFill>
                <a:latin typeface="Calibri"/>
              </a:rPr>
              <a:t>Proprietary &amp; Confidential · E-Mobility Powertrain AI 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3047" y="6267450"/>
            <a:ext cx="5014786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sz="830" b="1" i="0" u="none">
                <a:solidFill>
                  <a:srgbClr val="EF4444"/>
                </a:solidFill>
                <a:latin typeface="Calibri"/>
              </a:rPr>
              <a:t>EXECUTIVE BRIEFING · 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3862" y="471488"/>
            <a:ext cx="76198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258" y="428625"/>
            <a:ext cx="10991575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1" i="0" u="none">
                <a:solidFill>
                  <a:srgbClr val="38BDF8"/>
                </a:solidFill>
                <a:latin typeface="Calibri"/>
              </a:rPr>
              <a:t>ENGINEERING FOUNDATIONS · BEYOND GENERIC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62" y="647700"/>
            <a:ext cx="11143971" cy="44187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210" b="1" i="0" u="none">
                <a:solidFill>
                  <a:srgbClr val="F9FAFB"/>
                </a:solidFill>
                <a:latin typeface="Calibri"/>
              </a:rPr>
              <a:t>What is AI in Deep Automotive Motor ECU Development?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62" y="1070521"/>
            <a:ext cx="10477238" cy="5128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Generic commercial AI hallucinates and leaks data. Automotive-grade engineering AI is a deterministic, neuro-symbolic framework engineered specifically for functional safety (ISO 26262) and real-time control physics.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62" y="1723876"/>
            <a:ext cx="3600360" cy="2166938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931" y="1904851"/>
            <a:ext cx="323842" cy="323850"/>
          </a:xfrm>
          <a:prstGeom prst="roundRect">
            <a:avLst>
              <a:gd name="adj" fmla="val 2500"/>
            </a:avLst>
          </a:prstGeom>
          <a:solidFill>
            <a:srgbClr val="274A6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ctr"/>
            <a:r>
              <a:rPr sz="1100" b="0" i="0" u="none">
                <a:solidFill>
                  <a:srgbClr val="38BDF8"/>
                </a:solidFill>
                <a:latin typeface="Calibri"/>
              </a:rPr>
              <a:t>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21" y="1962001"/>
            <a:ext cx="2911401" cy="2667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1. Physics-Informed ML Surrogates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31" y="2323951"/>
            <a:ext cx="3162221" cy="6143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D2D5DB"/>
                </a:solidFill>
                <a:latin typeface="Calibri"/>
              </a:rPr>
              <a:t>Replaces sluggish finite-element (FEA) and complex ODE solvers with microsecond neural surrogates for non-linear motor plant dynamics: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31" y="2957364"/>
            <a:ext cx="3162221" cy="609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28600" indent="-228600"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Iron saturation, cross-coupling Ld/Lq mapping</a:t>
            </a:r>
          </a:p>
          <a:p>
            <a:pPr algn="l" marL="228600" indent="-228600">
              <a:spcBef>
                <a:spcPts val="200"/>
              </a:spcBef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Inverter SiC switching losses &amp; thermal transients</a:t>
            </a:r>
          </a:p>
          <a:p>
            <a:pPr algn="l" marL="228600" indent="-228600">
              <a:spcBef>
                <a:spcPts val="200"/>
              </a:spcBef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100x faster SIL/MIL closed-loop 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5668" y="1723876"/>
            <a:ext cx="3600360" cy="2166938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14737" y="1904851"/>
            <a:ext cx="323842" cy="323850"/>
          </a:xfrm>
          <a:prstGeom prst="roundRect">
            <a:avLst>
              <a:gd name="adj" fmla="val 2500"/>
            </a:avLst>
          </a:prstGeom>
          <a:solidFill>
            <a:srgbClr val="274A6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ctr"/>
            <a:r>
              <a:rPr sz="1100" b="0" i="0" u="none">
                <a:solidFill>
                  <a:srgbClr val="38BDF8"/>
                </a:solidFill>
                <a:latin typeface="Calibr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3827" y="1962001"/>
            <a:ext cx="2556803" cy="2667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2. Domain-Tuned Semantic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737" y="2323951"/>
            <a:ext cx="3162221" cy="6143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D2D5DB"/>
                </a:solidFill>
                <a:latin typeface="Calibri"/>
              </a:rPr>
              <a:t>Trained on automotive embedded standards, control protocols, and toolchain syntax rather than public internet chatter: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737" y="2957364"/>
            <a:ext cx="3162221" cy="762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28600" indent="-228600"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Deep knowledge of AUTOSAR Classic (RTE/BSW/MCAL)</a:t>
            </a:r>
          </a:p>
          <a:p>
            <a:pPr algn="l" marL="228600" indent="-228600">
              <a:spcBef>
                <a:spcPts val="200"/>
              </a:spcBef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Native understanding of A2L/ASAP2, CAN/XCP, and MDF4</a:t>
            </a:r>
          </a:p>
          <a:p>
            <a:pPr algn="l" marL="228600" indent="-228600">
              <a:spcBef>
                <a:spcPts val="200"/>
              </a:spcBef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Automated ASPICE SWE.1-SWE.6 artifact synthesis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7473" y="1723876"/>
            <a:ext cx="3600360" cy="2166938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6543" y="1904851"/>
            <a:ext cx="323842" cy="323850"/>
          </a:xfrm>
          <a:prstGeom prst="roundRect">
            <a:avLst>
              <a:gd name="adj" fmla="val 2500"/>
            </a:avLst>
          </a:prstGeom>
          <a:solidFill>
            <a:srgbClr val="274A65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ctr"/>
            <a:r>
              <a:rPr sz="1100" b="0" i="0" u="none">
                <a:solidFill>
                  <a:srgbClr val="38BDF8"/>
                </a:solidFill>
                <a:latin typeface="Calibri"/>
              </a:rP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632" y="1962001"/>
            <a:ext cx="2911401" cy="2667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3. Deterministic Verification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543" y="2323951"/>
            <a:ext cx="3162221" cy="6143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0" i="0" u="none">
                <a:solidFill>
                  <a:srgbClr val="D2D5DB"/>
                </a:solidFill>
                <a:latin typeface="Calibri"/>
              </a:rPr>
              <a:t>Zero hallucination tolerance: Every AI suggestion is strictly gated by deterministic compilers and formal verification tools: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543" y="2957364"/>
            <a:ext cx="3162221" cy="609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28600" indent="-228600"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Automated MISRA-C:2012 / CERT C rule checkers</a:t>
            </a:r>
          </a:p>
          <a:p>
            <a:pPr algn="l" marL="228600" indent="-228600">
              <a:spcBef>
                <a:spcPts val="200"/>
              </a:spcBef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SMT-based formal bounds checking (Polyspace/Astree)</a:t>
            </a:r>
          </a:p>
          <a:p>
            <a:pPr algn="l" marL="228600" indent="-228600">
              <a:spcBef>
                <a:spcPts val="200"/>
              </a:spcBef>
              <a:spcAft>
                <a:spcPts val="150"/>
              </a:spcAft>
              <a:buClr>
                <a:srgbClr val="38BDF8"/>
              </a:buClr>
              <a:buChar char="▸"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Human-in-the-loop sign-off for ASIL-D safety cases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23862" y="4202906"/>
          <a:ext cx="1114397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608"/>
                <a:gridCol w="4234596"/>
                <a:gridCol w="4457767"/>
              </a:tblGrid>
              <a:tr h="356298">
                <a:tc>
                  <a:txBody>
                    <a:bodyPr wrap="square" lIns="120000" rIns="120000" tIns="90000" bIns="90000"/>
                    <a:lstStyle/>
                    <a:p>
                      <a:pPr algn="l"/>
                      <a:r>
                        <a:rPr sz="860" b="1" i="0" u="none">
                          <a:solidFill>
                            <a:srgbClr val="F9FAFB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120000" marR="120000" marT="90000" marB="90000" anchor="ctr">
                    <a:solidFill>
                      <a:srgbClr val="253F55"/>
                    </a:solidFill>
                    <a:lnL>
                      <a:noFill/>
                    </a:lnL>
                    <a:lnR>
                      <a:noFill/>
                    </a:lnR>
                    <a:lnB w="1587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20000" rIns="120000" tIns="90000" bIns="90000"/>
                    <a:lstStyle/>
                    <a:p>
                      <a:pPr algn="l"/>
                      <a:r>
                        <a:rPr sz="860" b="1" i="0" u="none">
                          <a:solidFill>
                            <a:srgbClr val="F9FAFB"/>
                          </a:solidFill>
                          <a:latin typeface="Calibri"/>
                        </a:rPr>
                        <a:t>Generic Consumer AI (ChatGPT / Public Cloud)</a:t>
                      </a:r>
                    </a:p>
                  </a:txBody>
                  <a:tcPr marL="120000" marR="120000" marT="90000" marB="90000" anchor="ctr">
                    <a:solidFill>
                      <a:srgbClr val="253F55"/>
                    </a:solidFill>
                    <a:lnL>
                      <a:noFill/>
                    </a:lnL>
                    <a:lnR>
                      <a:noFill/>
                    </a:lnR>
                    <a:lnB w="1587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20000" rIns="120000" tIns="90000" bIns="90000"/>
                    <a:lstStyle/>
                    <a:p>
                      <a:pPr algn="l"/>
                      <a:r>
                        <a:rPr sz="860" b="1" i="0" u="none">
                          <a:solidFill>
                            <a:srgbClr val="38BDF8"/>
                          </a:solidFill>
                          <a:latin typeface="Calibri"/>
                        </a:rPr>
                        <a:t>Our Automotive Motor ECU AI Platform</a:t>
                      </a:r>
                    </a:p>
                  </a:txBody>
                  <a:tcPr marL="120000" marR="120000" marT="90000" marB="90000" anchor="ctr">
                    <a:solidFill>
                      <a:srgbClr val="253F55"/>
                    </a:solidFill>
                    <a:lnL>
                      <a:noFill/>
                    </a:lnL>
                    <a:lnR>
                      <a:noFill/>
                    </a:lnR>
                    <a:lnB w="15875" cmpd="s">
                      <a:solidFill>
                        <a:srgbClr val="3A4150"/>
                      </a:solidFill>
                    </a:lnB>
                  </a:tcPr>
                </a:tc>
              </a:tr>
              <a:tr h="351483"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1" i="0" u="none">
                          <a:solidFill>
                            <a:srgbClr val="F9FAFB"/>
                          </a:solidFill>
                          <a:latin typeface="Calibri"/>
                        </a:rPr>
                        <a:t>Data Confidentiality</a:t>
                      </a:r>
                    </a:p>
                  </a:txBody>
                  <a:tcPr marL="100000" marR="100000" marT="70000" marB="70000" anchor="ctr">
                    <a:solidFill>
                      <a:srgbClr val="222A3B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720" b="1" i="0" u="none">
                          <a:solidFill>
                            <a:srgbClr val="EF4444"/>
                          </a:solidFill>
                          <a:latin typeface="Calibri"/>
                        </a:rPr>
                        <a:t>High Risk</a:t>
                      </a:r>
                      <a:r>
                        <a:rPr sz="860" b="0" i="0" u="none">
                          <a:solidFill>
                            <a:srgbClr val="F9FAFB"/>
                          </a:solidFill>
                          <a:latin typeface="Calibri"/>
                        </a:rPr>
                        <a:t> Egresses to public cloud; risks model retraining</a:t>
                      </a:r>
                    </a:p>
                  </a:txBody>
                  <a:tcPr marL="100000" marR="100000" marT="70000" marB="70000" anchor="ctr">
                    <a:solidFill>
                      <a:srgbClr val="222A3B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720" b="1" i="0" u="none">
                          <a:solidFill>
                            <a:srgbClr val="0D9488"/>
                          </a:solidFill>
                          <a:latin typeface="Calibri"/>
                        </a:rPr>
                        <a:t>100% Sovereign</a:t>
                      </a:r>
                      <a:r>
                        <a:rPr sz="860" b="0" i="0" u="none">
                          <a:solidFill>
                            <a:srgbClr val="F9FAFB"/>
                          </a:solidFill>
                          <a:latin typeface="Calibri"/>
                        </a:rPr>
                        <a:t> Air-gapped / On-Premise; zero external transmission</a:t>
                      </a:r>
                    </a:p>
                  </a:txBody>
                  <a:tcPr marL="100000" marR="100000" marT="70000" marB="70000" anchor="ctr">
                    <a:solidFill>
                      <a:srgbClr val="222A3B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</a:tr>
              <a:tr h="351483"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1" i="0" u="none">
                          <a:solidFill>
                            <a:srgbClr val="F9FAFB"/>
                          </a:solidFill>
                          <a:latin typeface="Calibri"/>
                        </a:rPr>
                        <a:t>Automotive Semantics</a:t>
                      </a:r>
                    </a:p>
                  </a:txBody>
                  <a:tcPr marL="100000" marR="100000" marT="70000" marB="70000" anchor="ctr">
                    <a:solidFill>
                      <a:srgbClr val="1C2436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0" i="0" u="none">
                          <a:solidFill>
                            <a:srgbClr val="F9FAFB"/>
                          </a:solidFill>
                          <a:latin typeface="Calibri"/>
                        </a:rPr>
                        <a:t>Generic code; no awareness of FOC, SVPWM, or ARXML</a:t>
                      </a:r>
                    </a:p>
                  </a:txBody>
                  <a:tcPr marL="100000" marR="100000" marT="70000" marB="70000" anchor="ctr">
                    <a:solidFill>
                      <a:srgbClr val="1C2436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0" i="0" u="none">
                          <a:solidFill>
                            <a:srgbClr val="F9FAFB"/>
                          </a:solidFill>
                          <a:latin typeface="Calibri"/>
                        </a:rPr>
                        <a:t>Native understanding of dq-frame transformations, MTPA, and AUTOSAR</a:t>
                      </a:r>
                    </a:p>
                  </a:txBody>
                  <a:tcPr marL="100000" marR="100000" marT="70000" marB="70000" anchor="ctr">
                    <a:solidFill>
                      <a:srgbClr val="1C2436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</a:tr>
              <a:tr h="351483"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1" i="0" u="none">
                          <a:solidFill>
                            <a:srgbClr val="F9FAFB"/>
                          </a:solidFill>
                          <a:latin typeface="Calibri"/>
                        </a:rPr>
                        <a:t>Safety &amp; Compliance</a:t>
                      </a:r>
                    </a:p>
                  </a:txBody>
                  <a:tcPr marL="100000" marR="100000" marT="70000" marB="70000" anchor="ctr">
                    <a:solidFill>
                      <a:srgbClr val="222A3B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0" i="0" u="none">
                          <a:solidFill>
                            <a:srgbClr val="F9FAFB"/>
                          </a:solidFill>
                          <a:latin typeface="Calibri"/>
                        </a:rPr>
                        <a:t>Unverifiable probabilistic text; unsuited for ASIL-D</a:t>
                      </a:r>
                    </a:p>
                  </a:txBody>
                  <a:tcPr marL="100000" marR="100000" marT="70000" marB="70000" anchor="ctr">
                    <a:solidFill>
                      <a:srgbClr val="222A3B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0" i="0" u="none">
                          <a:solidFill>
                            <a:srgbClr val="F9FAFB"/>
                          </a:solidFill>
                          <a:latin typeface="Calibri"/>
                        </a:rPr>
                        <a:t>Deterministic verification gates; ISO 26262 tool qualification support</a:t>
                      </a:r>
                    </a:p>
                  </a:txBody>
                  <a:tcPr marL="100000" marR="100000" marT="70000" marB="70000" anchor="ctr">
                    <a:solidFill>
                      <a:srgbClr val="222A3B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</a:tr>
              <a:tr h="341853"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1" i="0" u="none">
                          <a:solidFill>
                            <a:srgbClr val="F9FAFB"/>
                          </a:solidFill>
                          <a:latin typeface="Calibri"/>
                        </a:rPr>
                        <a:t>Toolchain Integration</a:t>
                      </a:r>
                    </a:p>
                  </a:txBody>
                  <a:tcPr marL="100000" marR="100000" marT="70000" marB="70000" anchor="ctr">
                    <a:solidFill>
                      <a:srgbClr val="1C2436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0" i="0" u="none">
                          <a:solidFill>
                            <a:srgbClr val="F9FAFB"/>
                          </a:solidFill>
                          <a:latin typeface="Calibri"/>
                        </a:rPr>
                        <a:t>Copy-paste web browser interface; manual friction</a:t>
                      </a:r>
                    </a:p>
                  </a:txBody>
                  <a:tcPr marL="100000" marR="100000" marT="70000" marB="70000" anchor="ctr">
                    <a:solidFill>
                      <a:srgbClr val="1C2436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  <a:tc>
                  <a:txBody>
                    <a:bodyPr wrap="square" lIns="100000" rIns="100000" tIns="70000" bIns="70000"/>
                    <a:lstStyle/>
                    <a:p>
                      <a:pPr algn="l"/>
                      <a:r>
                        <a:rPr sz="860" b="0" i="0" u="none">
                          <a:solidFill>
                            <a:srgbClr val="F9FAFB"/>
                          </a:solidFill>
                          <a:latin typeface="Calibri"/>
                        </a:rPr>
                        <a:t>Headless API connectors for DOORS, Simulink, CANoe, INCA, dSPACE</a:t>
                      </a:r>
                    </a:p>
                  </a:txBody>
                  <a:tcPr marL="100000" marR="100000" marT="70000" marB="70000" anchor="ctr">
                    <a:solidFill>
                      <a:srgbClr val="1C2436"/>
                    </a:solidFill>
                    <a:lnL>
                      <a:noFill/>
                    </a:lnL>
                    <a:lnR>
                      <a:noFill/>
                    </a:lnR>
                    <a:lnB w="9525" cmpd="s">
                      <a:solidFill>
                        <a:srgbClr val="3A415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23862" y="6153150"/>
            <a:ext cx="1114397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62" y="6267450"/>
            <a:ext cx="7577900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9CA3AF"/>
                </a:solidFill>
                <a:latin typeface="Calibri"/>
              </a:rPr>
              <a:t>Deterministic Neuro-Symbolic Architecture for High-Integrity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3047" y="6267450"/>
            <a:ext cx="5014786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sz="830" b="1" i="0" u="none">
                <a:solidFill>
                  <a:srgbClr val="EF4444"/>
                </a:solidFill>
                <a:latin typeface="Calibri"/>
              </a:rPr>
              <a:t>EXECUTIVE BRIEFING · 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3862" y="471488"/>
            <a:ext cx="76198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258" y="428625"/>
            <a:ext cx="10991575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1" i="0" u="none">
                <a:solidFill>
                  <a:srgbClr val="38BDF8"/>
                </a:solidFill>
                <a:latin typeface="Calibri"/>
              </a:rPr>
              <a:t>END-TO-END V-MODEL TRANSFORMATION · ASPICE SWE.1 TO SWE.6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62" y="647700"/>
            <a:ext cx="11143971" cy="44187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210" b="1" i="0" u="none">
                <a:solidFill>
                  <a:srgbClr val="F9FAFB"/>
                </a:solidFill>
                <a:latin typeface="Calibri"/>
              </a:rPr>
              <a:t>AI Across the Motor ECU V-Development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62" y="1070521"/>
            <a:ext cx="10477238" cy="5128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Automating time-sink manual tasks from requirements decomposition down to dyno calibration while preserving full engineering control and safety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62" y="2149227"/>
            <a:ext cx="4867153" cy="654248"/>
          </a:xfrm>
          <a:prstGeom prst="roundRect">
            <a:avLst>
              <a:gd name="adj" fmla="val 25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3862" y="2149227"/>
            <a:ext cx="31750" cy="654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258" y="2244477"/>
            <a:ext cx="1894088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F9FAFB"/>
                </a:solidFill>
                <a:latin typeface="Calibri"/>
              </a:rPr>
              <a:t>SWE.1: Requirements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0114" y="2244477"/>
            <a:ext cx="847555" cy="152400"/>
          </a:xfrm>
          <a:prstGeom prst="roundRect">
            <a:avLst>
              <a:gd name="adj" fmla="val 1500"/>
            </a:avLst>
          </a:prstGeom>
          <a:solidFill>
            <a:srgbClr val="27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660" b="1" i="0" u="none">
                <a:solidFill>
                  <a:srgbClr val="38BDF8"/>
                </a:solidFill>
                <a:latin typeface="Calibri"/>
              </a:rPr>
              <a:t>DOORS / Polarion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58" y="2425452"/>
            <a:ext cx="4581410" cy="34141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AI Parser:</a:t>
            </a:r>
            <a:r>
              <a:rPr sz="760" b="0" i="0" u="none">
                <a:solidFill>
                  <a:srgbClr val="38BDF8"/>
                </a:solidFill>
                <a:latin typeface="Calibri"/>
              </a:rPr>
              <a:t> Converts OEM vehicle torque requests into formal Motor Control specs; flags conflicting or untestable boundary conditions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862" y="2889200"/>
            <a:ext cx="4867153" cy="654248"/>
          </a:xfrm>
          <a:prstGeom prst="roundRect">
            <a:avLst>
              <a:gd name="adj" fmla="val 25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862" y="2889200"/>
            <a:ext cx="31750" cy="654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258" y="2984450"/>
            <a:ext cx="1538547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F9FAFB"/>
                </a:solidFill>
                <a:latin typeface="Calibri"/>
              </a:rPr>
              <a:t>SWE.2: System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36" y="2984450"/>
            <a:ext cx="844132" cy="152400"/>
          </a:xfrm>
          <a:prstGeom prst="roundRect">
            <a:avLst>
              <a:gd name="adj" fmla="val 1500"/>
            </a:avLst>
          </a:prstGeom>
          <a:solidFill>
            <a:srgbClr val="27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660" b="1" i="0" u="none">
                <a:solidFill>
                  <a:srgbClr val="38BDF8"/>
                </a:solidFill>
                <a:latin typeface="Calibri"/>
              </a:rPr>
              <a:t>AUTOSAR ARXML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58" y="3165425"/>
            <a:ext cx="4581410" cy="34141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ARXML Co-Pilot:</a:t>
            </a:r>
            <a:r>
              <a:rPr sz="760" b="0" i="0" u="none">
                <a:solidFill>
                  <a:srgbClr val="38BDF8"/>
                </a:solidFill>
                <a:latin typeface="Calibri"/>
              </a:rPr>
              <a:t> Automated SWC port mapping, runnable scheduling, and data dictionary validation for inverter RTE and BSW complex drivers.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862" y="3629174"/>
            <a:ext cx="4867153" cy="654248"/>
          </a:xfrm>
          <a:prstGeom prst="roundRect">
            <a:avLst>
              <a:gd name="adj" fmla="val 25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3862" y="3629174"/>
            <a:ext cx="31750" cy="654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258" y="3724424"/>
            <a:ext cx="1900934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F9FAFB"/>
                </a:solidFill>
                <a:latin typeface="Calibri"/>
              </a:rPr>
              <a:t>SWE.3: Detailed MBD &amp; Code 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8106" y="3724424"/>
            <a:ext cx="979562" cy="152400"/>
          </a:xfrm>
          <a:prstGeom prst="roundRect">
            <a:avLst>
              <a:gd name="adj" fmla="val 1500"/>
            </a:avLst>
          </a:prstGeom>
          <a:solidFill>
            <a:srgbClr val="27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660" b="1" i="0" u="none">
                <a:solidFill>
                  <a:srgbClr val="38BDF8"/>
                </a:solidFill>
                <a:latin typeface="Calibri"/>
              </a:rPr>
              <a:t>Simulink / TargetLink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58" y="3905399"/>
            <a:ext cx="4581410" cy="34141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Model &amp; Code Assistant:</a:t>
            </a:r>
            <a:r>
              <a:rPr sz="760" b="0" i="0" u="none">
                <a:solidFill>
                  <a:srgbClr val="38BDF8"/>
                </a:solidFill>
                <a:latin typeface="Calibri"/>
              </a:rPr>
              <a:t> Automated FOC sub-system harness generation, fixed-point scaling optimization, and automated MISRA-C:2012 remediation.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24362" y="2797225"/>
            <a:ext cx="1142971" cy="838200"/>
          </a:xfrm>
          <a:prstGeom prst="roundRect">
            <a:avLst>
              <a:gd name="adj" fmla="val 3100"/>
            </a:avLst>
          </a:prstGeom>
          <a:solidFill>
            <a:srgbClr val="183C57"/>
          </a:solidFill>
          <a:ln w="9525">
            <a:solidFill>
              <a:srgbClr val="38BDF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10085" y="2902000"/>
            <a:ext cx="971526" cy="2667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buNone/>
            </a:pPr>
            <a:r>
              <a:rPr sz="1240" b="1" i="0" u="none">
                <a:solidFill>
                  <a:srgbClr val="38BDF8"/>
                </a:solidFill>
                <a:latin typeface="Calibri"/>
              </a:rPr>
              <a:t>⚡ ➔ 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0085" y="3149650"/>
            <a:ext cx="971526" cy="1905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CLOSED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0085" y="3321100"/>
            <a:ext cx="971526" cy="2667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buNone/>
            </a:pPr>
            <a:r>
              <a:rPr sz="650" b="1" i="0" u="none">
                <a:solidFill>
                  <a:srgbClr val="F9FAFB"/>
                </a:solidFill>
                <a:latin typeface="Calibri"/>
              </a:rPr>
              <a:t>Continuous Automated Traceability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0680" y="2149227"/>
            <a:ext cx="4867153" cy="654248"/>
          </a:xfrm>
          <a:prstGeom prst="roundRect">
            <a:avLst>
              <a:gd name="adj" fmla="val 25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636083" y="2149227"/>
            <a:ext cx="31750" cy="6542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4502" y="2244477"/>
            <a:ext cx="1808514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F9FAFB"/>
                </a:solidFill>
                <a:latin typeface="Calibri"/>
              </a:rPr>
              <a:t>SWE.4: Unit &amp; Static 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57325" y="2244477"/>
            <a:ext cx="758112" cy="152400"/>
          </a:xfrm>
          <a:prstGeom prst="roundRect">
            <a:avLst>
              <a:gd name="adj" fmla="val 1500"/>
            </a:avLst>
          </a:prstGeom>
          <a:solidFill>
            <a:srgbClr val="27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660" b="1" i="0" u="none">
                <a:solidFill>
                  <a:srgbClr val="62B9B2"/>
                </a:solidFill>
                <a:latin typeface="Calibri"/>
              </a:rPr>
              <a:t>Polyspace / TPT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4502" y="2425452"/>
            <a:ext cx="4590935" cy="34141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Test Vector Synthesizer:</a:t>
            </a:r>
            <a:r>
              <a:rPr sz="760" b="0" i="0" u="none">
                <a:solidFill>
                  <a:srgbClr val="38BDF8"/>
                </a:solidFill>
                <a:latin typeface="Calibri"/>
              </a:rPr>
              <a:t> Autonomously generates boundary and equivalence test cases achieving 100% MC/DC coverage for ASIL-D motor safety monitors.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00680" y="2889200"/>
            <a:ext cx="4867153" cy="654248"/>
          </a:xfrm>
          <a:prstGeom prst="roundRect">
            <a:avLst>
              <a:gd name="adj" fmla="val 25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636083" y="2889200"/>
            <a:ext cx="31750" cy="6542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4502" y="2984450"/>
            <a:ext cx="2023059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F9FAFB"/>
                </a:solidFill>
                <a:latin typeface="Calibri"/>
              </a:rPr>
              <a:t>SWE.5: SIL / HIL Integration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25001" y="2984450"/>
            <a:ext cx="1090436" cy="152400"/>
          </a:xfrm>
          <a:prstGeom prst="roundRect">
            <a:avLst>
              <a:gd name="adj" fmla="val 1500"/>
            </a:avLst>
          </a:prstGeom>
          <a:solidFill>
            <a:srgbClr val="27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660" b="1" i="0" u="none">
                <a:solidFill>
                  <a:srgbClr val="62B9B2"/>
                </a:solidFill>
                <a:latin typeface="Calibri"/>
              </a:rPr>
              <a:t>dSPACE / Vector CANoe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4502" y="3165425"/>
            <a:ext cx="4590935" cy="34141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HIL Automation Engine:</a:t>
            </a:r>
            <a:r>
              <a:rPr sz="760" b="0" i="0" u="none">
                <a:solidFill>
                  <a:srgbClr val="38BDF8"/>
                </a:solidFill>
                <a:latin typeface="Calibri"/>
              </a:rPr>
              <a:t> Generates automated CAPL/Python scripts for resolver signal loss, DC bus over-voltage, and inverter bridge shoot-through faults.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00680" y="3629174"/>
            <a:ext cx="4867153" cy="654248"/>
          </a:xfrm>
          <a:prstGeom prst="roundRect">
            <a:avLst>
              <a:gd name="adj" fmla="val 25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636083" y="3629174"/>
            <a:ext cx="31750" cy="6542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24502" y="3724424"/>
            <a:ext cx="2033537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F9FAFB"/>
                </a:solidFill>
                <a:latin typeface="Calibri"/>
              </a:rPr>
              <a:t>SWE.6: Dyno Calibration &amp; Mapping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39446" y="3724424"/>
            <a:ext cx="975990" cy="152400"/>
          </a:xfrm>
          <a:prstGeom prst="roundRect">
            <a:avLst>
              <a:gd name="adj" fmla="val 1500"/>
            </a:avLst>
          </a:prstGeom>
          <a:solidFill>
            <a:srgbClr val="27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660" b="1" i="0" u="none">
                <a:solidFill>
                  <a:srgbClr val="62B9B2"/>
                </a:solidFill>
                <a:latin typeface="Calibri"/>
              </a:rPr>
              <a:t>ETAS INCA / CANape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4502" y="3905399"/>
            <a:ext cx="4590935" cy="34141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Bayesian Calibration Co-Pilot:</a:t>
            </a:r>
            <a:r>
              <a:rPr sz="760" b="0" i="0" u="none">
                <a:solidFill>
                  <a:srgbClr val="38BDF8"/>
                </a:solidFill>
                <a:latin typeface="Calibri"/>
              </a:rPr>
              <a:t> Active-learning MTPA/MTPV table generator; slashes dyno cell operating hours by 50% via intelligent sweep reduction.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3862" y="4906268"/>
            <a:ext cx="5457688" cy="719138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3862" y="4906268"/>
            <a:ext cx="31750" cy="71913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832" y="5011043"/>
            <a:ext cx="5114797" cy="2000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EF4444"/>
                </a:solidFill>
                <a:latin typeface="Calibri"/>
              </a:rPr>
              <a:t>Traditional Manual Bottleneck: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832" y="5192018"/>
            <a:ext cx="5114797" cy="3857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F9FAFB"/>
                </a:solidFill>
                <a:latin typeface="Calibri"/>
              </a:rPr>
              <a:t>Manual test script authoring, repetitive regression debug in gigabyte CAN trace logs, and weeks of tedious test bench sweep tuning.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0145" y="4906268"/>
            <a:ext cx="5457688" cy="719138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0145" y="4906268"/>
            <a:ext cx="31750" cy="71913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91115" y="5011043"/>
            <a:ext cx="5114797" cy="2000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0D9488"/>
                </a:solidFill>
                <a:latin typeface="Calibri"/>
              </a:rPr>
              <a:t>AI-Accelerated Engineering: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115" y="5192018"/>
            <a:ext cx="5114797" cy="3857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F9FAFB"/>
                </a:solidFill>
                <a:latin typeface="Calibri"/>
              </a:rPr>
              <a:t>Automated test synthesis, 10-second MDF4 log root-cause analysis, and optimal dyno sampling points calculated autonomously.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3862" y="6153150"/>
            <a:ext cx="1114397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3862" y="6267450"/>
            <a:ext cx="7577900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9CA3AF"/>
                </a:solidFill>
                <a:latin typeface="Calibri"/>
              </a:rPr>
              <a:t>ASPICE Level 3 &amp; ISO 26262 ASIL-D Process Aligned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3047" y="6267450"/>
            <a:ext cx="5014786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sz="830" b="1" i="0" u="none">
                <a:solidFill>
                  <a:srgbClr val="EF4444"/>
                </a:solidFill>
                <a:latin typeface="Calibri"/>
              </a:rPr>
              <a:t>EXECUTIVE BRIEFING · 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3862" y="471488"/>
            <a:ext cx="76198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258" y="428625"/>
            <a:ext cx="10991575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1" i="0" u="none">
                <a:solidFill>
                  <a:srgbClr val="38BDF8"/>
                </a:solidFill>
                <a:latin typeface="Calibri"/>
              </a:rPr>
              <a:t>ENTERPRISE SECURITY ARCHITECTURE · 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62" y="647700"/>
            <a:ext cx="11143971" cy="44187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210" b="1" i="0" u="none">
                <a:solidFill>
                  <a:srgbClr val="F9FAFB"/>
                </a:solidFill>
                <a:latin typeface="Calibri"/>
              </a:rPr>
              <a:t>Absolute IP Protection &amp; Zero Data Leakage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62" y="1070521"/>
            <a:ext cx="10477238" cy="5128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Your motor topologies, inverter switching algorithms, and calibration datasets represent core IP. Our platform guarantees mathematical data isolation with zero cloud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62" y="1869132"/>
            <a:ext cx="5457688" cy="1356122"/>
          </a:xfrm>
          <a:prstGeom prst="roundRect">
            <a:avLst>
              <a:gd name="adj" fmla="val 3700"/>
            </a:avLst>
          </a:prstGeom>
          <a:solidFill>
            <a:srgbClr val="203543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3882" y="2069157"/>
            <a:ext cx="1825629" cy="171450"/>
          </a:xfrm>
          <a:prstGeom prst="roundRect">
            <a:avLst>
              <a:gd name="adj" fmla="val 12000"/>
            </a:avLst>
          </a:prstGeom>
          <a:solidFill>
            <a:srgbClr val="21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720" b="1" i="0" u="none">
                <a:solidFill>
                  <a:srgbClr val="56B4AC"/>
                </a:solidFill>
                <a:latin typeface="Calibri"/>
              </a:rPr>
              <a:t>🔒 PILLAR 1 · SOVEREIGN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2" y="2297757"/>
            <a:ext cx="5057648" cy="2571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070" b="1" i="0" u="none">
                <a:solidFill>
                  <a:srgbClr val="F9FAFB"/>
                </a:solidFill>
                <a:latin typeface="Calibri"/>
              </a:rPr>
              <a:t>100% Air-Gapped / On-Premise VPC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882" y="2545407"/>
            <a:ext cx="5057648" cy="57507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Deployed completely behind your corporate firewall on customer-owned infrastructure (NVIDIA DGX, private server racks, or dedicated sovereign cloud enclaves). </a:t>
            </a:r>
            <a:r>
              <a:rPr sz="860" b="1" i="0" u="none">
                <a:solidFill>
                  <a:srgbClr val="F9FAFB"/>
                </a:solidFill>
                <a:latin typeface="Calibri"/>
              </a:rPr>
              <a:t>Zero telemetry, zero external API calls, and zero external network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5" y="1869132"/>
            <a:ext cx="5457688" cy="1356122"/>
          </a:xfrm>
          <a:prstGeom prst="roundRect">
            <a:avLst>
              <a:gd name="adj" fmla="val 3700"/>
            </a:avLst>
          </a:prstGeom>
          <a:solidFill>
            <a:srgbClr val="203543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0165" y="2069157"/>
            <a:ext cx="2395924" cy="171450"/>
          </a:xfrm>
          <a:prstGeom prst="roundRect">
            <a:avLst>
              <a:gd name="adj" fmla="val 12000"/>
            </a:avLst>
          </a:prstGeom>
          <a:solidFill>
            <a:srgbClr val="21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720" b="1" i="0" u="none">
                <a:solidFill>
                  <a:srgbClr val="56B4AC"/>
                </a:solidFill>
                <a:latin typeface="Calibri"/>
              </a:rPr>
              <a:t>🛡️ PILLAR 2 · INTELLECTUAL PROPERTY RIGHTS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165" y="2297757"/>
            <a:ext cx="5057648" cy="2571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070" b="1" i="0" u="none">
                <a:solidFill>
                  <a:srgbClr val="F9FAFB"/>
                </a:solidFill>
                <a:latin typeface="Calibri"/>
              </a:rPr>
              <a:t>Zero Data Retention &amp; No Retraining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165" y="2545407"/>
            <a:ext cx="5057648" cy="57507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Your proprietary motor control models, Simulink diagrams, C source code, and calibration A2L files are never used to train base foundation models. Ephemeral session memory is securely wiped following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862" y="3453854"/>
            <a:ext cx="5457688" cy="1356122"/>
          </a:xfrm>
          <a:prstGeom prst="roundRect">
            <a:avLst>
              <a:gd name="adj" fmla="val 3700"/>
            </a:avLst>
          </a:prstGeom>
          <a:solidFill>
            <a:srgbClr val="203543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3882" y="3653879"/>
            <a:ext cx="2019101" cy="171450"/>
          </a:xfrm>
          <a:prstGeom prst="roundRect">
            <a:avLst>
              <a:gd name="adj" fmla="val 12000"/>
            </a:avLst>
          </a:prstGeom>
          <a:solidFill>
            <a:srgbClr val="21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720" b="1" i="0" u="none">
                <a:solidFill>
                  <a:srgbClr val="56B4AC"/>
                </a:solidFill>
                <a:latin typeface="Calibri"/>
              </a:rPr>
              <a:t>⚡ PILLAR 3 · COMPLIANCE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2" y="3882479"/>
            <a:ext cx="5057648" cy="2571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070" b="1" i="0" u="none">
                <a:solidFill>
                  <a:srgbClr val="F9FAFB"/>
                </a:solidFill>
                <a:latin typeface="Calibri"/>
              </a:rPr>
              <a:t>TISAX Level 3 &amp; ISO/SAE 21434 Certified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82" y="4130129"/>
            <a:ext cx="5057648" cy="57507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Built to conform strictly with automotive cybersecurity standards (ISO/SAE 21434) and European automotive supplier information security (TISAX AL3 - Very High Protection Need). Role-based access control (RBAC) and hardware cryptographic signing.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5" y="3453854"/>
            <a:ext cx="5457688" cy="1356122"/>
          </a:xfrm>
          <a:prstGeom prst="roundRect">
            <a:avLst>
              <a:gd name="adj" fmla="val 3700"/>
            </a:avLst>
          </a:prstGeom>
          <a:solidFill>
            <a:srgbClr val="203543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0165" y="3653879"/>
            <a:ext cx="1943051" cy="171450"/>
          </a:xfrm>
          <a:prstGeom prst="roundRect">
            <a:avLst>
              <a:gd name="adj" fmla="val 12000"/>
            </a:avLst>
          </a:prstGeom>
          <a:solidFill>
            <a:srgbClr val="21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720" b="1" i="0" u="none">
                <a:solidFill>
                  <a:srgbClr val="56B4AC"/>
                </a:solidFill>
                <a:latin typeface="Calibri"/>
              </a:rPr>
              <a:t>🔍 PILLAR 4 · AUDIT &amp; 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165" y="3882479"/>
            <a:ext cx="5057648" cy="2571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070" b="1" i="0" u="none">
                <a:solidFill>
                  <a:srgbClr val="F9FAFB"/>
                </a:solidFill>
                <a:latin typeface="Calibri"/>
              </a:rPr>
              <a:t>Complete Audit Trail &amp; Human Sign-off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165" y="4130129"/>
            <a:ext cx="5057648" cy="57507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0" i="0" u="none">
                <a:solidFill>
                  <a:srgbClr val="F9FAFB"/>
                </a:solidFill>
                <a:latin typeface="Calibri"/>
              </a:rPr>
              <a:t>Every generated test case, code patch, or calibration adjustment includes full cryptographic provenance and timestamped justification. Meets strict ASPICE audit requirements with mandatory Senior Engineer sign-off gates.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3862" y="5248275"/>
            <a:ext cx="11143971" cy="561975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8BDF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32" y="5386388"/>
            <a:ext cx="287826" cy="3429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520" b="0" i="0" u="none">
                <a:solidFill>
                  <a:srgbClr val="F9FAFB"/>
                </a:solidFill>
                <a:latin typeface="Calibri"/>
              </a:rPr>
              <a:t>🏛️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956" y="5372100"/>
            <a:ext cx="5075061" cy="1905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30" b="1" i="0" u="none">
                <a:solidFill>
                  <a:srgbClr val="38BDF8"/>
                </a:solidFill>
                <a:latin typeface="Calibri"/>
              </a:rPr>
              <a:t>Enterprise Air-Gap Deployment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956" y="5543550"/>
            <a:ext cx="5075061" cy="2000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D2D5DB"/>
                </a:solidFill>
                <a:latin typeface="Calibri"/>
              </a:rPr>
              <a:t>Containerized microservices (Docker/Kubernetes) running locally with on-prem quantized model weights.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74310" y="5400675"/>
            <a:ext cx="2012552" cy="257175"/>
          </a:xfrm>
          <a:prstGeom prst="roundRect">
            <a:avLst>
              <a:gd name="adj" fmla="val 1900"/>
            </a:avLst>
          </a:prstGeom>
          <a:solidFill>
            <a:srgbClr val="1D414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l"/>
            <a:r>
              <a:rPr sz="790" b="1" i="0" u="none">
                <a:solidFill>
                  <a:srgbClr val="3DA9A0"/>
                </a:solidFill>
                <a:latin typeface="Calibri"/>
              </a:rPr>
              <a:t>✓ ZERO DATA LEAKAGE CERTIFIED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3862" y="6153150"/>
            <a:ext cx="1114397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862" y="6267450"/>
            <a:ext cx="7577900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9CA3AF"/>
                </a:solidFill>
                <a:latin typeface="Calibri"/>
              </a:rPr>
              <a:t>Hardware-Enforced Data Isolation for Tier-1 &amp; OEM Intellectual Property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3047" y="6267450"/>
            <a:ext cx="5014786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sz="830" b="1" i="0" u="none">
                <a:solidFill>
                  <a:srgbClr val="EF4444"/>
                </a:solidFill>
                <a:latin typeface="Calibri"/>
              </a:rPr>
              <a:t>EXECUTIVE BRIEFING · 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3862" y="471488"/>
            <a:ext cx="76198" cy="76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258" y="428625"/>
            <a:ext cx="10991575" cy="2190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900" b="1" i="0" u="none">
                <a:solidFill>
                  <a:srgbClr val="38BDF8"/>
                </a:solidFill>
                <a:latin typeface="Calibri"/>
              </a:rPr>
              <a:t>STRATEGIC ENGAGEMENT &amp; PARTNERSHIP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62" y="647700"/>
            <a:ext cx="11143971" cy="44187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2210" b="1" i="0" u="none">
                <a:solidFill>
                  <a:srgbClr val="F9FAFB"/>
                </a:solidFill>
                <a:latin typeface="Calibri"/>
              </a:rPr>
              <a:t>Turnkey Services: Accelerate Your Motor ECU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62" y="1070521"/>
            <a:ext cx="10477238" cy="5128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9FAFB"/>
                </a:solidFill>
                <a:latin typeface="Calibri"/>
              </a:rPr>
              <a:t>We deliver end-to-end enablement: from integrating secure AI engines into your toolchain to fine-tuning on your proprietary legacy codebase and executing rapid 4-week proof-of-concepts.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62" y="1878806"/>
            <a:ext cx="2685983" cy="1897261"/>
          </a:xfrm>
          <a:prstGeom prst="roundRect">
            <a:avLst>
              <a:gd name="adj" fmla="val 31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3862" y="1878806"/>
            <a:ext cx="2685983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783" y="2059781"/>
            <a:ext cx="2362141" cy="2000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SERVICE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783" y="2250281"/>
            <a:ext cx="2362141" cy="4381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040" b="1" i="0" u="none">
                <a:solidFill>
                  <a:srgbClr val="F9FAFB"/>
                </a:solidFill>
                <a:latin typeface="Calibri"/>
              </a:rPr>
              <a:t>V-Cycle Test &amp; HIL Automation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83" y="2688431"/>
            <a:ext cx="2362141" cy="69711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D2D5DB"/>
                </a:solidFill>
                <a:latin typeface="Calibri"/>
              </a:rPr>
              <a:t>Turnkey integration with dSPACE, Vector CANoe, and TPT. Automated test authoring and 24/7 automated regression failure diagnosis.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783" y="3404592"/>
            <a:ext cx="236214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783" y="3461742"/>
            <a:ext cx="2362141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0D9488"/>
                </a:solidFill>
                <a:latin typeface="Calibri"/>
              </a:rPr>
              <a:t>▸ 60% Faster HIL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3191" y="1878806"/>
            <a:ext cx="2685983" cy="1897261"/>
          </a:xfrm>
          <a:prstGeom prst="roundRect">
            <a:avLst>
              <a:gd name="adj" fmla="val 31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3191" y="1878806"/>
            <a:ext cx="2685983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5112" y="2059781"/>
            <a:ext cx="2362141" cy="2000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SERVICE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5112" y="2250281"/>
            <a:ext cx="2362141" cy="2476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040" b="1" i="0" u="none">
                <a:solidFill>
                  <a:srgbClr val="F9FAFB"/>
                </a:solidFill>
                <a:latin typeface="Calibri"/>
              </a:rPr>
              <a:t>Dyno Calibration Co-Pilot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112" y="2497931"/>
            <a:ext cx="2362141" cy="69711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D2D5DB"/>
                </a:solidFill>
                <a:latin typeface="Calibri"/>
              </a:rPr>
              <a:t>Deployment of Bayesian active-learning agents to optimize test bench schedules and auto-generate MTPA, MTPV, and thermal derating tables.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5112" y="3404592"/>
            <a:ext cx="236214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5112" y="3461742"/>
            <a:ext cx="2362141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0D9488"/>
                </a:solidFill>
                <a:latin typeface="Calibri"/>
              </a:rPr>
              <a:t>▸ 50% Dyno Hour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2521" y="1878806"/>
            <a:ext cx="2685983" cy="1897261"/>
          </a:xfrm>
          <a:prstGeom prst="roundRect">
            <a:avLst>
              <a:gd name="adj" fmla="val 31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2521" y="1878806"/>
            <a:ext cx="2685983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442" y="2059781"/>
            <a:ext cx="2362141" cy="2000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SERVICE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2" y="2250281"/>
            <a:ext cx="2362141" cy="4381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040" b="1" i="0" u="none">
                <a:solidFill>
                  <a:srgbClr val="F9FAFB"/>
                </a:solidFill>
                <a:latin typeface="Calibri"/>
              </a:rPr>
              <a:t>ASPICE &amp; Safety Compliance Accelerator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2" y="2688431"/>
            <a:ext cx="2362141" cy="69711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D2D5DB"/>
                </a:solidFill>
                <a:latin typeface="Calibri"/>
              </a:rPr>
              <a:t>End-to-end bidirectional traceability automation from DOORS requirements to test logs, plus automated MISRA-C static remediation.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4442" y="3404592"/>
            <a:ext cx="236214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2" y="3461742"/>
            <a:ext cx="2362141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0D9488"/>
                </a:solidFill>
                <a:latin typeface="Calibri"/>
              </a:rPr>
              <a:t>▸ 100% Audit-Ready SWE.1-6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81850" y="1878806"/>
            <a:ext cx="2685983" cy="1897261"/>
          </a:xfrm>
          <a:prstGeom prst="roundRect">
            <a:avLst>
              <a:gd name="adj" fmla="val 31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81850" y="1878806"/>
            <a:ext cx="2685983" cy="317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3771" y="2059781"/>
            <a:ext cx="2362141" cy="20002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38BDF8"/>
                </a:solidFill>
                <a:latin typeface="Calibri"/>
              </a:rPr>
              <a:t>SERVICE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771" y="2250281"/>
            <a:ext cx="2362141" cy="2476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040" b="1" i="0" u="none">
                <a:solidFill>
                  <a:srgbClr val="F9FAFB"/>
                </a:solidFill>
                <a:latin typeface="Calibri"/>
              </a:rPr>
              <a:t>Air-Gapped Sovereign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3771" y="2497931"/>
            <a:ext cx="2362141" cy="697111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D2D5DB"/>
                </a:solidFill>
                <a:latin typeface="Calibri"/>
              </a:rPr>
              <a:t>On-premise hardware setup, fine-tuning domain models on your internal motor firmware conventions, and hands-on team enablement.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3771" y="3404592"/>
            <a:ext cx="236214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3771" y="3461742"/>
            <a:ext cx="2362141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60" b="1" i="0" u="none">
                <a:solidFill>
                  <a:srgbClr val="0D9488"/>
                </a:solidFill>
                <a:latin typeface="Calibri"/>
              </a:rPr>
              <a:t>▸ Zero Security Compromise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3862" y="4109740"/>
            <a:ext cx="5457688" cy="766762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832" y="4233565"/>
            <a:ext cx="5095748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38BDF8"/>
                </a:solidFill>
                <a:latin typeface="Calibri"/>
              </a:rPr>
              <a:t>Phase 1: 4-Week Rapid Proof of Concept (PoC)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832" y="4424065"/>
            <a:ext cx="5095748" cy="3857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F9FAFB"/>
                </a:solidFill>
                <a:latin typeface="Calibri"/>
              </a:rPr>
              <a:t>Select one high-friction subsystem (e.g., FOC fault-injection test synthesis or dyno MTPA calibration). We demonstrate 50%+ time savings on your data with zero air-gap risk.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0145" y="4109740"/>
            <a:ext cx="5457688" cy="766762"/>
          </a:xfrm>
          <a:prstGeom prst="roundRect">
            <a:avLst>
              <a:gd name="adj" fmla="val 3700"/>
            </a:avLst>
          </a:prstGeom>
          <a:solidFill>
            <a:srgbClr val="222A3B"/>
          </a:solidFill>
          <a:ln w="9525">
            <a:solidFill>
              <a:srgbClr val="3A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115" y="4233565"/>
            <a:ext cx="5095748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38BDF8"/>
                </a:solidFill>
                <a:latin typeface="Calibri"/>
              </a:rPr>
              <a:t>Phase 2: 12-Week Production Pilot &amp; Toolchain Rollout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115" y="4424065"/>
            <a:ext cx="5095748" cy="38576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790" b="0" i="0" u="none">
                <a:solidFill>
                  <a:srgbClr val="F9FAFB"/>
                </a:solidFill>
                <a:latin typeface="Calibri"/>
              </a:rPr>
              <a:t>Full on-prem deployment integrated into your CI/CD, dSPACE/Vector HIL benches, and DOORS database. Comprehensive training for your motor control engineers.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3862" y="5229076"/>
            <a:ext cx="11143971" cy="685800"/>
          </a:xfrm>
          <a:prstGeom prst="roundRect">
            <a:avLst>
              <a:gd name="adj" fmla="val 37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2456" y="5381476"/>
            <a:ext cx="5183405" cy="2476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1140" b="1" i="0" u="none">
                <a:solidFill>
                  <a:srgbClr val="FFFFFF"/>
                </a:solidFill>
                <a:latin typeface="Calibri"/>
              </a:rPr>
              <a:t>Ready to Cut 6+ Months from Your Next Motor ECU Program?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456" y="5610076"/>
            <a:ext cx="6560058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60" b="1" i="0" u="none">
                <a:solidFill>
                  <a:srgbClr val="FFFFFF"/>
                </a:solidFill>
                <a:latin typeface="Calibri"/>
              </a:rPr>
              <a:t>Book a 45-minute confidential technical deep dive and see our on-premise motor control AI demo.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54020" y="5419576"/>
            <a:ext cx="2485219" cy="304800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tIns="19050" rIns="19050" bIns="19050"/>
          <a:lstStyle/>
          <a:p>
            <a:pPr algn="ctr"/>
            <a:r>
              <a:rPr sz="860" b="1" i="0" u="none">
                <a:solidFill>
                  <a:srgbClr val="0F172A"/>
                </a:solidFill>
                <a:latin typeface="Calibri"/>
              </a:rPr>
              <a:t>SCHEDULE TECHNICAL BRIEFING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3862" y="6153150"/>
            <a:ext cx="11143971" cy="11430"/>
          </a:xfrm>
          <a:prstGeom prst="rect">
            <a:avLst/>
          </a:prstGeom>
          <a:solidFill>
            <a:srgbClr val="3A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862" y="6267450"/>
            <a:ext cx="7577900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sz="830" b="0" i="0" u="none">
                <a:solidFill>
                  <a:srgbClr val="9CA3AF"/>
                </a:solidFill>
                <a:latin typeface="Calibri"/>
              </a:rPr>
              <a:t>Automotive Systems Engineering · Ready for Immediate 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3047" y="6267450"/>
            <a:ext cx="5014786" cy="20955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sz="830" b="1" i="0" u="none">
                <a:solidFill>
                  <a:srgbClr val="EF4444"/>
                </a:solidFill>
                <a:latin typeface="Calibri"/>
              </a:rPr>
              <a:t>EXECUTIVE BRIEFING · 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